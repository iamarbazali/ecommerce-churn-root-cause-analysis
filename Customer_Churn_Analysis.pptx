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 Rate %</c:v>
                </c:pt>
              </c:strCache>
            </c:strRef>
          </c:tx>
          <c:spPr>
            <a:solidFill>
              <a:srgbClr val="E84855"/>
            </a:solidFill>
            <a:effectLst/>
          </c:spPr>
          <c:invertIfNegative val="0"/>
          <c:dLbls>
            <c:numFmt formatCode="#,##0" sourceLinked="0"/>
            <c:txPr>
              <a:bodyPr/>
              <a:lstStyle/>
              <a:p>
                <a:pPr>
                  <a:defRPr b="0" i="0" strike="noStrike" sz="1200" u="none">
                    <a:solidFill>
                      <a:srgbClr val="1E2344"/>
                    </a:solidFill>
                    <a:latin typeface="Arial"/>
                  </a:defRPr>
                </a:pPr>
              </a:p>
            </c:txPr>
            <c:showLegendKey val="0"/>
            <c:showVal val="1"/>
            <c:showCatName val="0"/>
            <c:showSerName val="0"/>
            <c:showPercent val="0"/>
            <c:showBubbleSize val="0"/>
            <c:showLeaderLines val="0"/>
          </c:dLbls>
          <c:dPt>
            <c:idx val="0"/>
            <c:invertIfNegative val="0"/>
            <c:bubble3D val="0"/>
            <c:spPr>
              <a:solidFill>
                <a:srgbClr val="E84855"/>
              </a:solidFill>
              <a:effectLst/>
            </c:spPr>
          </c:dPt>
          <c:dPt>
            <c:idx val="1"/>
            <c:invertIfNegative val="0"/>
            <c:bubble3D val="0"/>
            <c:spPr>
              <a:solidFill>
                <a:srgbClr val="1EB0A0"/>
              </a:solidFill>
              <a:effectLst/>
            </c:spPr>
          </c:dPt>
          <c:dPt>
            <c:idx val="2"/>
            <c:invertIfNegative val="0"/>
            <c:bubble3D val="0"/>
            <c:spPr>
              <a:solidFill>
                <a:srgbClr val="1EB0A0"/>
              </a:solidFill>
              <a:effectLst/>
            </c:spPr>
          </c:dPt>
          <c:dPt>
            <c:idx val="3"/>
            <c:invertIfNegative val="0"/>
            <c:bubble3D val="0"/>
            <c:spPr>
              <a:solidFill>
                <a:srgbClr val="1EB0A0"/>
              </a:solidFill>
              <a:effectLst/>
            </c:spPr>
          </c:dPt>
          <c:cat>
            <c:multiLvlStrRef>
              <c:f>Sheet1!$A$2:$A$5</c:f>
              <c:multiLvlStrCache>
                <c:ptCount val="4"/>
                <c:lvl>
                  <c:pt idx="0">
                    <c:v>0–6 months</c:v>
                  </c:pt>
                  <c:pt idx="1">
                    <c:v>6–12 months</c:v>
                  </c:pt>
                  <c:pt idx="2">
                    <c:v>12–24 months</c:v>
                  </c:pt>
                  <c:pt idx="3">
                    <c:v>24+ months</c:v>
                  </c:pt>
                </c:lvl>
              </c:multiLvlStrCache>
            </c:multiLvlStrRef>
          </c:cat>
          <c:val>
            <c:numRef>
              <c:f>Sheet1!$B$2:$B$5</c:f>
              <c:numCache>
                <c:formatCode>General</c:formatCode>
                <c:ptCount val="4"/>
                <c:pt idx="0">
                  <c:v>26</c:v>
                </c:pt>
                <c:pt idx="1">
                  <c:v>6.8</c:v>
                </c:pt>
                <c:pt idx="2">
                  <c:v>7.1</c:v>
                </c:pt>
                <c:pt idx="3">
                  <c:v>0.5</c:v>
                </c:pt>
              </c:numCache>
            </c:numRef>
          </c:val>
        </c:ser>
        <c:dLbls>
          <c:numFmt formatCode="#,##0" sourceLinked="0"/>
          <c:txPr>
            <a:bodyPr/>
            <a:lstStyle/>
            <a:p>
              <a:pPr>
                <a:defRPr b="0" i="0" strike="noStrike" sz="1200" u="none">
                  <a:solidFill>
                    <a:srgbClr val="1E234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 Rate %</c:v>
                </c:pt>
              </c:strCache>
            </c:strRef>
          </c:tx>
          <c:spPr>
            <a:solidFill>
              <a:srgbClr val="1EB0A0"/>
            </a:solidFill>
            <a:effectLst/>
          </c:spPr>
          <c:invertIfNegative val="0"/>
          <c:dLbls>
            <c:numFmt formatCode="#,##0" sourceLinked="0"/>
            <c:txPr>
              <a:bodyPr/>
              <a:lstStyle/>
              <a:p>
                <a:pPr>
                  <a:defRPr b="0" i="0" strike="noStrike" sz="1400" u="none">
                    <a:solidFill>
                      <a:srgbClr val="1E2344"/>
                    </a:solidFill>
                    <a:latin typeface="Arial"/>
                  </a:defRPr>
                </a:pPr>
              </a:p>
            </c:txPr>
            <c:showLegendKey val="0"/>
            <c:showVal val="1"/>
            <c:showCatName val="0"/>
            <c:showSerName val="0"/>
            <c:showPercent val="0"/>
            <c:showBubbleSize val="0"/>
            <c:showLeaderLines val="0"/>
          </c:dLbls>
          <c:dPt>
            <c:idx val="0"/>
            <c:invertIfNegative val="0"/>
            <c:bubble3D val="0"/>
            <c:spPr>
              <a:solidFill>
                <a:srgbClr val="1EB0A0"/>
              </a:solidFill>
              <a:effectLst/>
            </c:spPr>
          </c:dPt>
          <c:dPt>
            <c:idx val="1"/>
            <c:invertIfNegative val="0"/>
            <c:bubble3D val="0"/>
            <c:spPr>
              <a:solidFill>
                <a:srgbClr val="E84855"/>
              </a:solidFill>
              <a:effectLst/>
            </c:spPr>
          </c:dPt>
          <c:cat>
            <c:multiLvlStrRef>
              <c:f>Sheet1!$A$2:$A$3</c:f>
              <c:multiLvlStrCache>
                <c:ptCount val="2"/>
                <c:lvl>
                  <c:pt idx="0">
                    <c:v>No Complaint</c:v>
                  </c:pt>
                  <c:pt idx="1">
                    <c:v>Filed Complaint</c:v>
                  </c:pt>
                </c:lvl>
              </c:multiLvlStrCache>
            </c:multiLvlStrRef>
          </c:cat>
          <c:val>
            <c:numRef>
              <c:f>Sheet1!$B$2:$B$3</c:f>
              <c:numCache>
                <c:formatCode>General</c:formatCode>
                <c:ptCount val="2"/>
                <c:pt idx="0">
                  <c:v>10.9</c:v>
                </c:pt>
                <c:pt idx="1">
                  <c:v>31.7</c:v>
                </c:pt>
              </c:numCache>
            </c:numRef>
          </c:val>
        </c:ser>
        <c:dLbls>
          <c:numFmt formatCode="#,##0" sourceLinked="0"/>
          <c:txPr>
            <a:bodyPr/>
            <a:lstStyle/>
            <a:p>
              <a:pPr>
                <a:defRPr b="0" i="0" strike="noStrike" sz="1400" u="none">
                  <a:solidFill>
                    <a:srgbClr val="1E234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Odds Ratio</c:v>
                </c:pt>
              </c:strCache>
            </c:strRef>
          </c:tx>
          <c:spPr>
            <a:solidFill>
              <a:srgbClr val="1EB0A0"/>
            </a:solidFill>
            <a:effectLst/>
          </c:spPr>
          <c:invertIfNegative val="0"/>
          <c:dLbls>
            <c:numFmt formatCode="#,##0" sourceLinked="0"/>
            <c:txPr>
              <a:bodyPr/>
              <a:lstStyle/>
              <a:p>
                <a:pPr>
                  <a:defRPr b="0" i="0" strike="noStrike" sz="1100" u="none">
                    <a:solidFill>
                      <a:srgbClr val="1E2344"/>
                    </a:solidFill>
                    <a:latin typeface="Arial"/>
                  </a:defRPr>
                </a:pPr>
              </a:p>
            </c:txPr>
            <c:showLegendKey val="0"/>
            <c:showVal val="1"/>
            <c:showCatName val="0"/>
            <c:showSerName val="0"/>
            <c:showPercent val="0"/>
            <c:showBubbleSize val="0"/>
            <c:showLeaderLines val="0"/>
          </c:dLbls>
          <c:dPt>
            <c:idx val="0"/>
            <c:invertIfNegative val="0"/>
            <c:bubble3D val="0"/>
            <c:spPr>
              <a:solidFill>
                <a:srgbClr val="1EB0A0"/>
              </a:solidFill>
              <a:effectLst/>
            </c:spPr>
          </c:dPt>
          <c:dPt>
            <c:idx val="1"/>
            <c:invertIfNegative val="0"/>
            <c:bubble3D val="0"/>
            <c:spPr>
              <a:solidFill>
                <a:srgbClr val="1EB0A0"/>
              </a:solidFill>
              <a:effectLst/>
            </c:spPr>
          </c:dPt>
          <c:dPt>
            <c:idx val="2"/>
            <c:invertIfNegative val="0"/>
            <c:bubble3D val="0"/>
            <c:spPr>
              <a:solidFill>
                <a:srgbClr val="64748B"/>
              </a:solidFill>
              <a:effectLst/>
            </c:spPr>
          </c:dPt>
          <c:dPt>
            <c:idx val="3"/>
            <c:invertIfNegative val="0"/>
            <c:bubble3D val="0"/>
            <c:spPr>
              <a:solidFill>
                <a:srgbClr val="F5A623"/>
              </a:solidFill>
              <a:effectLst/>
            </c:spPr>
          </c:dPt>
          <c:dPt>
            <c:idx val="4"/>
            <c:invertIfNegative val="0"/>
            <c:bubble3D val="0"/>
            <c:spPr>
              <a:solidFill>
                <a:srgbClr val="F5A623"/>
              </a:solidFill>
              <a:effectLst/>
            </c:spPr>
          </c:dPt>
          <c:dPt>
            <c:idx val="5"/>
            <c:invertIfNegative val="0"/>
            <c:bubble3D val="0"/>
            <c:spPr>
              <a:solidFill>
                <a:srgbClr val="E84855"/>
              </a:solidFill>
              <a:effectLst/>
            </c:spPr>
          </c:dPt>
          <c:cat>
            <c:multiLvlStrRef>
              <c:f>Sheet1!$A$2:$A$7</c:f>
              <c:multiLvlStrCache>
                <c:ptCount val="6"/>
                <c:lvl>
                  <c:pt idx="0">
                    <c:v>DaySinceLastOrder (Protects)</c:v>
                  </c:pt>
                  <c:pt idx="1">
                    <c:v>Tenure (Protects)</c:v>
                  </c:pt>
                  <c:pt idx="2">
                    <c:v>CityTier</c:v>
                  </c:pt>
                  <c:pt idx="3">
                    <c:v>SatisfactionScore</c:v>
                  </c:pt>
                  <c:pt idx="4">
                    <c:v>OrderCount</c:v>
                  </c:pt>
                  <c:pt idx="5">
                    <c:v>Complain</c:v>
                  </c:pt>
                </c:lvl>
              </c:multiLvlStrCache>
            </c:multiLvlStrRef>
          </c:cat>
          <c:val>
            <c:numRef>
              <c:f>Sheet1!$B$2:$B$7</c:f>
              <c:numCache>
                <c:formatCode>General</c:formatCode>
                <c:ptCount val="6"/>
                <c:pt idx="0">
                  <c:v>0.6</c:v>
                </c:pt>
                <c:pt idx="1">
                  <c:v>0.25</c:v>
                </c:pt>
                <c:pt idx="2">
                  <c:v>1.28</c:v>
                </c:pt>
                <c:pt idx="3">
                  <c:v>1.45</c:v>
                </c:pt>
                <c:pt idx="4">
                  <c:v>1.59</c:v>
                </c:pt>
                <c:pt idx="5">
                  <c:v>1.97</c:v>
                </c:pt>
              </c:numCache>
            </c:numRef>
          </c:val>
        </c:ser>
        <c:dLbls>
          <c:numFmt formatCode="#,##0" sourceLinked="0"/>
          <c:txPr>
            <a:bodyPr/>
            <a:lstStyle/>
            <a:p>
              <a:pPr>
                <a:defRPr b="0" i="0" strike="noStrike" sz="1100" u="none">
                  <a:solidFill>
                    <a:srgbClr val="1E234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4855"/>
          </a:solidFill>
          <a:ln/>
        </p:spPr>
      </p:sp>
      <p:sp>
        <p:nvSpPr>
          <p:cNvPr id="3" name="Shape 1"/>
          <p:cNvSpPr/>
          <p:nvPr/>
        </p:nvSpPr>
        <p:spPr>
          <a:xfrm>
            <a:off x="6217920" y="0"/>
            <a:ext cx="2926080" cy="5143500"/>
          </a:xfrm>
          <a:prstGeom prst="rect">
            <a:avLst/>
          </a:prstGeom>
          <a:solidFill>
            <a:srgbClr val="1A3A6C"/>
          </a:solidFill>
          <a:ln/>
        </p:spPr>
      </p:sp>
      <p:sp>
        <p:nvSpPr>
          <p:cNvPr id="4" name="Text 2"/>
          <p:cNvSpPr/>
          <p:nvPr/>
        </p:nvSpPr>
        <p:spPr>
          <a:xfrm>
            <a:off x="6217920" y="1188720"/>
            <a:ext cx="2926080" cy="1005840"/>
          </a:xfrm>
          <a:prstGeom prst="rect">
            <a:avLst/>
          </a:prstGeom>
          <a:noFill/>
          <a:ln/>
        </p:spPr>
        <p:txBody>
          <a:bodyPr wrap="square" lIns="0" tIns="0" rIns="0" bIns="0" rtlCol="0" anchor="ctr"/>
          <a:lstStyle/>
          <a:p>
            <a:pPr algn="ctr" indent="0" marL="0">
              <a:buNone/>
            </a:pPr>
            <a:r>
              <a:rPr lang="en-US" sz="5200" b="1" dirty="0">
                <a:solidFill>
                  <a:srgbClr val="E84855"/>
                </a:solidFill>
                <a:latin typeface="Calibri" pitchFamily="34" charset="0"/>
                <a:ea typeface="Calibri" pitchFamily="34" charset="-122"/>
                <a:cs typeface="Calibri" pitchFamily="34" charset="-120"/>
              </a:rPr>
              <a:t>16.8%</a:t>
            </a:r>
            <a:endParaRPr lang="en-US" sz="5200" dirty="0"/>
          </a:p>
        </p:txBody>
      </p:sp>
      <p:sp>
        <p:nvSpPr>
          <p:cNvPr id="5" name="Text 3"/>
          <p:cNvSpPr/>
          <p:nvPr/>
        </p:nvSpPr>
        <p:spPr>
          <a:xfrm>
            <a:off x="6217920" y="2286000"/>
            <a:ext cx="2926080" cy="457200"/>
          </a:xfrm>
          <a:prstGeom prst="rect">
            <a:avLst/>
          </a:prstGeom>
          <a:noFill/>
          <a:ln/>
        </p:spPr>
        <p:txBody>
          <a:bodyPr wrap="square" lIns="0" tIns="0" rIns="0" bIns="0" rtlCol="0" anchor="ctr"/>
          <a:lstStyle/>
          <a:p>
            <a:pPr algn="ctr" indent="0" marL="0">
              <a:buNone/>
            </a:pPr>
            <a:r>
              <a:rPr lang="en-US" sz="1300" dirty="0">
                <a:solidFill>
                  <a:srgbClr val="9EAEC8"/>
                </a:solidFill>
                <a:latin typeface="Calibri" pitchFamily="34" charset="0"/>
                <a:ea typeface="Calibri" pitchFamily="34" charset="-122"/>
                <a:cs typeface="Calibri" pitchFamily="34" charset="-120"/>
              </a:rPr>
              <a:t>Overall Churn Rate</a:t>
            </a:r>
            <a:endParaRPr lang="en-US" sz="1300" dirty="0"/>
          </a:p>
        </p:txBody>
      </p:sp>
      <p:sp>
        <p:nvSpPr>
          <p:cNvPr id="6" name="Text 4"/>
          <p:cNvSpPr/>
          <p:nvPr/>
        </p:nvSpPr>
        <p:spPr>
          <a:xfrm>
            <a:off x="6217920" y="2834640"/>
            <a:ext cx="2926080" cy="365760"/>
          </a:xfrm>
          <a:prstGeom prst="rect">
            <a:avLst/>
          </a:prstGeom>
          <a:noFill/>
          <a:ln/>
        </p:spPr>
        <p:txBody>
          <a:bodyPr wrap="square" lIns="0" tIns="0" rIns="0" bIns="0" rtlCol="0" anchor="ctr"/>
          <a:lstStyle/>
          <a:p>
            <a:pPr algn="ctr" indent="0" marL="0">
              <a:buNone/>
            </a:pPr>
            <a:r>
              <a:rPr lang="en-US" sz="1100" dirty="0">
                <a:solidFill>
                  <a:srgbClr val="7080A0"/>
                </a:solidFill>
                <a:latin typeface="Calibri" pitchFamily="34" charset="0"/>
                <a:ea typeface="Calibri" pitchFamily="34" charset="-122"/>
                <a:cs typeface="Calibri" pitchFamily="34" charset="-120"/>
              </a:rPr>
              <a:t>5,630 customers analysed</a:t>
            </a:r>
            <a:endParaRPr lang="en-US" sz="1100" dirty="0"/>
          </a:p>
        </p:txBody>
      </p:sp>
      <p:sp>
        <p:nvSpPr>
          <p:cNvPr id="7" name="Text 5"/>
          <p:cNvSpPr/>
          <p:nvPr/>
        </p:nvSpPr>
        <p:spPr>
          <a:xfrm>
            <a:off x="457200" y="914400"/>
            <a:ext cx="54864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Customer Churn</a:t>
            </a:r>
            <a:endParaRPr lang="en-US" sz="4400" dirty="0"/>
          </a:p>
        </p:txBody>
      </p:sp>
      <p:sp>
        <p:nvSpPr>
          <p:cNvPr id="8" name="Text 6"/>
          <p:cNvSpPr/>
          <p:nvPr/>
        </p:nvSpPr>
        <p:spPr>
          <a:xfrm>
            <a:off x="457200" y="1920240"/>
            <a:ext cx="5486400" cy="914400"/>
          </a:xfrm>
          <a:prstGeom prst="rect">
            <a:avLst/>
          </a:prstGeom>
          <a:noFill/>
          <a:ln/>
        </p:spPr>
        <p:txBody>
          <a:bodyPr wrap="square" lIns="0" tIns="0" rIns="0" bIns="0" rtlCol="0" anchor="ctr"/>
          <a:lstStyle/>
          <a:p>
            <a:pPr algn="l" indent="0" marL="0">
              <a:buNone/>
            </a:pPr>
            <a:r>
              <a:rPr lang="en-US" sz="3600" dirty="0">
                <a:solidFill>
                  <a:srgbClr val="9EAEC8"/>
                </a:solidFill>
                <a:latin typeface="Calibri" pitchFamily="34" charset="0"/>
                <a:ea typeface="Calibri" pitchFamily="34" charset="-122"/>
                <a:cs typeface="Calibri" pitchFamily="34" charset="-120"/>
              </a:rPr>
              <a:t>Root Cause Analysis</a:t>
            </a:r>
            <a:endParaRPr lang="en-US" sz="3600" dirty="0"/>
          </a:p>
        </p:txBody>
      </p:sp>
      <p:sp>
        <p:nvSpPr>
          <p:cNvPr id="9" name="Text 7"/>
          <p:cNvSpPr/>
          <p:nvPr/>
        </p:nvSpPr>
        <p:spPr>
          <a:xfrm>
            <a:off x="457200" y="3108960"/>
            <a:ext cx="5486400" cy="411480"/>
          </a:xfrm>
          <a:prstGeom prst="rect">
            <a:avLst/>
          </a:prstGeom>
          <a:noFill/>
          <a:ln/>
        </p:spPr>
        <p:txBody>
          <a:bodyPr wrap="square" lIns="0" tIns="0" rIns="0" bIns="0" rtlCol="0" anchor="ctr"/>
          <a:lstStyle/>
          <a:p>
            <a:pPr algn="l" indent="0" marL="0">
              <a:buNone/>
            </a:pPr>
            <a:r>
              <a:rPr lang="en-US" sz="1300" dirty="0">
                <a:solidFill>
                  <a:srgbClr val="7080A0"/>
                </a:solidFill>
                <a:latin typeface="Calibri" pitchFamily="34" charset="0"/>
                <a:ea typeface="Calibri" pitchFamily="34" charset="-122"/>
                <a:cs typeface="Calibri" pitchFamily="34" charset="-120"/>
              </a:rPr>
              <a:t>E-Commerce Subscription Business  |  5-Phase Analytical Project</a:t>
            </a:r>
            <a:endParaRPr lang="en-US" sz="1300" dirty="0"/>
          </a:p>
        </p:txBody>
      </p:sp>
      <p:sp>
        <p:nvSpPr>
          <p:cNvPr id="10" name="Text 8"/>
          <p:cNvSpPr/>
          <p:nvPr/>
        </p:nvSpPr>
        <p:spPr>
          <a:xfrm>
            <a:off x="457200" y="4572000"/>
            <a:ext cx="5486400" cy="320040"/>
          </a:xfrm>
          <a:prstGeom prst="rect">
            <a:avLst/>
          </a:prstGeom>
          <a:noFill/>
          <a:ln/>
        </p:spPr>
        <p:txBody>
          <a:bodyPr wrap="square" lIns="0" tIns="0" rIns="0" bIns="0" rtlCol="0" anchor="ctr"/>
          <a:lstStyle/>
          <a:p>
            <a:pPr algn="l" indent="0" marL="0">
              <a:buNone/>
            </a:pPr>
            <a:r>
              <a:rPr lang="en-US" sz="1100" dirty="0">
                <a:solidFill>
                  <a:srgbClr val="5060A0"/>
                </a:solidFill>
                <a:latin typeface="Calibri" pitchFamily="34" charset="0"/>
                <a:ea typeface="Calibri" pitchFamily="34" charset="-122"/>
                <a:cs typeface="Calibri" pitchFamily="34" charset="-120"/>
              </a:rPr>
              <a:t>Presented to Leadership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The Problem — What Does Churn Cost?</a:t>
            </a:r>
            <a:endParaRPr lang="en-US" sz="2200" dirty="0"/>
          </a:p>
        </p:txBody>
      </p:sp>
      <p:sp>
        <p:nvSpPr>
          <p:cNvPr id="4" name="Shape 2"/>
          <p:cNvSpPr/>
          <p:nvPr/>
        </p:nvSpPr>
        <p:spPr>
          <a:xfrm>
            <a:off x="365760" y="822960"/>
            <a:ext cx="38404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365760" y="822960"/>
            <a:ext cx="109728" cy="1371600"/>
          </a:xfrm>
          <a:prstGeom prst="rect">
            <a:avLst/>
          </a:prstGeom>
          <a:solidFill>
            <a:srgbClr val="E84855"/>
          </a:solidFill>
          <a:ln/>
        </p:spPr>
      </p:sp>
      <p:sp>
        <p:nvSpPr>
          <p:cNvPr id="6" name="Text 4"/>
          <p:cNvSpPr/>
          <p:nvPr/>
        </p:nvSpPr>
        <p:spPr>
          <a:xfrm>
            <a:off x="594360" y="896112"/>
            <a:ext cx="3474720" cy="365760"/>
          </a:xfrm>
          <a:prstGeom prst="rect">
            <a:avLst/>
          </a:prstGeom>
          <a:noFill/>
          <a:ln/>
        </p:spPr>
        <p:txBody>
          <a:bodyPr wrap="square" lIns="0" tIns="0" rIns="0" bIns="0" rtlCol="0" anchor="ctr"/>
          <a:lstStyle/>
          <a:p>
            <a:pPr indent="0" marL="0">
              <a:buNone/>
            </a:pPr>
            <a:r>
              <a:rPr lang="en-US" sz="1400" b="1" dirty="0">
                <a:solidFill>
                  <a:srgbClr val="1E2344"/>
                </a:solidFill>
                <a:latin typeface="Calibri" pitchFamily="34" charset="0"/>
                <a:ea typeface="Calibri" pitchFamily="34" charset="-122"/>
                <a:cs typeface="Calibri" pitchFamily="34" charset="-120"/>
              </a:rPr>
              <a:t>Voluntary Churn</a:t>
            </a:r>
            <a:endParaRPr lang="en-US" sz="1400" dirty="0"/>
          </a:p>
        </p:txBody>
      </p:sp>
      <p:sp>
        <p:nvSpPr>
          <p:cNvPr id="7" name="Text 5"/>
          <p:cNvSpPr/>
          <p:nvPr/>
        </p:nvSpPr>
        <p:spPr>
          <a:xfrm>
            <a:off x="594360" y="1280160"/>
            <a:ext cx="3474720" cy="7315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Customer left due to dissatisfaction, bad experience, or a competitor offering a better deal.</a:t>
            </a:r>
            <a:endParaRPr lang="en-US" sz="1200" dirty="0"/>
          </a:p>
        </p:txBody>
      </p:sp>
      <p:sp>
        <p:nvSpPr>
          <p:cNvPr id="8" name="Shape 6"/>
          <p:cNvSpPr/>
          <p:nvPr/>
        </p:nvSpPr>
        <p:spPr>
          <a:xfrm>
            <a:off x="4754880" y="822960"/>
            <a:ext cx="38404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754880" y="822960"/>
            <a:ext cx="109728" cy="1371600"/>
          </a:xfrm>
          <a:prstGeom prst="rect">
            <a:avLst/>
          </a:prstGeom>
          <a:solidFill>
            <a:srgbClr val="F5A623"/>
          </a:solidFill>
          <a:ln/>
        </p:spPr>
      </p:sp>
      <p:sp>
        <p:nvSpPr>
          <p:cNvPr id="10" name="Text 8"/>
          <p:cNvSpPr/>
          <p:nvPr/>
        </p:nvSpPr>
        <p:spPr>
          <a:xfrm>
            <a:off x="4983480" y="896112"/>
            <a:ext cx="3474720" cy="365760"/>
          </a:xfrm>
          <a:prstGeom prst="rect">
            <a:avLst/>
          </a:prstGeom>
          <a:noFill/>
          <a:ln/>
        </p:spPr>
        <p:txBody>
          <a:bodyPr wrap="square" lIns="0" tIns="0" rIns="0" bIns="0" rtlCol="0" anchor="ctr"/>
          <a:lstStyle/>
          <a:p>
            <a:pPr indent="0" marL="0">
              <a:buNone/>
            </a:pPr>
            <a:r>
              <a:rPr lang="en-US" sz="1400" b="1" dirty="0">
                <a:solidFill>
                  <a:srgbClr val="1E2344"/>
                </a:solidFill>
                <a:latin typeface="Calibri" pitchFamily="34" charset="0"/>
                <a:ea typeface="Calibri" pitchFamily="34" charset="-122"/>
                <a:cs typeface="Calibri" pitchFamily="34" charset="-120"/>
              </a:rPr>
              <a:t>Involuntary Churn</a:t>
            </a:r>
            <a:endParaRPr lang="en-US" sz="1400" dirty="0"/>
          </a:p>
        </p:txBody>
      </p:sp>
      <p:sp>
        <p:nvSpPr>
          <p:cNvPr id="11" name="Text 9"/>
          <p:cNvSpPr/>
          <p:nvPr/>
        </p:nvSpPr>
        <p:spPr>
          <a:xfrm>
            <a:off x="4983480" y="1280160"/>
            <a:ext cx="3474720" cy="7315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Customer stopped due to payment failure, delivery issue, or another non-voluntary factor.</a:t>
            </a:r>
            <a:endParaRPr lang="en-US" sz="1200" dirty="0"/>
          </a:p>
        </p:txBody>
      </p:sp>
      <p:sp>
        <p:nvSpPr>
          <p:cNvPr id="12" name="Shape 10"/>
          <p:cNvSpPr/>
          <p:nvPr/>
        </p:nvSpPr>
        <p:spPr>
          <a:xfrm>
            <a:off x="365760" y="2423160"/>
            <a:ext cx="26517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365760" y="2423160"/>
            <a:ext cx="2651760" cy="109728"/>
          </a:xfrm>
          <a:prstGeom prst="rect">
            <a:avLst/>
          </a:prstGeom>
          <a:solidFill>
            <a:srgbClr val="E84855"/>
          </a:solidFill>
          <a:ln/>
        </p:spPr>
      </p:sp>
      <p:sp>
        <p:nvSpPr>
          <p:cNvPr id="14" name="Text 12"/>
          <p:cNvSpPr/>
          <p:nvPr/>
        </p:nvSpPr>
        <p:spPr>
          <a:xfrm>
            <a:off x="365760" y="2606040"/>
            <a:ext cx="2651760" cy="320040"/>
          </a:xfrm>
          <a:prstGeom prst="rect">
            <a:avLst/>
          </a:prstGeom>
          <a:noFill/>
          <a:ln/>
        </p:spPr>
        <p:txBody>
          <a:bodyPr wrap="square" lIns="0" tIns="0" rIns="0" bIns="0" rtlCol="0" anchor="ctr"/>
          <a:lstStyle/>
          <a:p>
            <a:pPr algn="ctr" indent="0" marL="0">
              <a:buNone/>
            </a:pPr>
            <a:r>
              <a:rPr lang="en-US" sz="1000" b="1" dirty="0">
                <a:solidFill>
                  <a:srgbClr val="E84855"/>
                </a:solidFill>
                <a:latin typeface="Calibri" pitchFamily="34" charset="0"/>
                <a:ea typeface="Calibri" pitchFamily="34" charset="-122"/>
                <a:cs typeface="Calibri" pitchFamily="34" charset="-120"/>
              </a:rPr>
              <a:t>Layer 1</a:t>
            </a:r>
            <a:endParaRPr lang="en-US" sz="1000" dirty="0"/>
          </a:p>
        </p:txBody>
      </p:sp>
      <p:sp>
        <p:nvSpPr>
          <p:cNvPr id="15" name="Text 13"/>
          <p:cNvSpPr/>
          <p:nvPr/>
        </p:nvSpPr>
        <p:spPr>
          <a:xfrm>
            <a:off x="365760" y="2926080"/>
            <a:ext cx="2651760" cy="411480"/>
          </a:xfrm>
          <a:prstGeom prst="rect">
            <a:avLst/>
          </a:prstGeom>
          <a:noFill/>
          <a:ln/>
        </p:spPr>
        <p:txBody>
          <a:bodyPr wrap="square" lIns="0" tIns="0" rIns="0" bIns="0" rtlCol="0" anchor="ctr"/>
          <a:lstStyle/>
          <a:p>
            <a:pPr algn="ctr" indent="0" marL="0">
              <a:buNone/>
            </a:pPr>
            <a:r>
              <a:rPr lang="en-US" sz="1300" b="1" dirty="0">
                <a:solidFill>
                  <a:srgbClr val="1E2344"/>
                </a:solidFill>
                <a:latin typeface="Calibri" pitchFamily="34" charset="0"/>
                <a:ea typeface="Calibri" pitchFamily="34" charset="-122"/>
                <a:cs typeface="Calibri" pitchFamily="34" charset="-120"/>
              </a:rPr>
              <a:t>Lost Recurring Revenue</a:t>
            </a:r>
            <a:endParaRPr lang="en-US" sz="1300" dirty="0"/>
          </a:p>
        </p:txBody>
      </p:sp>
      <p:sp>
        <p:nvSpPr>
          <p:cNvPr id="16" name="Text 14"/>
          <p:cNvSpPr/>
          <p:nvPr/>
        </p:nvSpPr>
        <p:spPr>
          <a:xfrm>
            <a:off x="502920" y="3383280"/>
            <a:ext cx="2377440" cy="128016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Every churned customer takes all future orders. Avg Rs.500/month × 100 churned = Rs.50,000/month lost.</a:t>
            </a:r>
            <a:endParaRPr lang="en-US" sz="1100" dirty="0"/>
          </a:p>
        </p:txBody>
      </p:sp>
      <p:sp>
        <p:nvSpPr>
          <p:cNvPr id="17" name="Shape 15"/>
          <p:cNvSpPr/>
          <p:nvPr/>
        </p:nvSpPr>
        <p:spPr>
          <a:xfrm>
            <a:off x="3200400" y="2423160"/>
            <a:ext cx="26517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3200400" y="2423160"/>
            <a:ext cx="2651760" cy="109728"/>
          </a:xfrm>
          <a:prstGeom prst="rect">
            <a:avLst/>
          </a:prstGeom>
          <a:solidFill>
            <a:srgbClr val="F5A623"/>
          </a:solidFill>
          <a:ln/>
        </p:spPr>
      </p:sp>
      <p:sp>
        <p:nvSpPr>
          <p:cNvPr id="19" name="Text 17"/>
          <p:cNvSpPr/>
          <p:nvPr/>
        </p:nvSpPr>
        <p:spPr>
          <a:xfrm>
            <a:off x="3200400" y="2606040"/>
            <a:ext cx="2651760" cy="320040"/>
          </a:xfrm>
          <a:prstGeom prst="rect">
            <a:avLst/>
          </a:prstGeom>
          <a:noFill/>
          <a:ln/>
        </p:spPr>
        <p:txBody>
          <a:bodyPr wrap="square" lIns="0" tIns="0" rIns="0" bIns="0" rtlCol="0" anchor="ctr"/>
          <a:lstStyle/>
          <a:p>
            <a:pPr algn="ctr" indent="0" marL="0">
              <a:buNone/>
            </a:pPr>
            <a:r>
              <a:rPr lang="en-US" sz="1000" b="1" dirty="0">
                <a:solidFill>
                  <a:srgbClr val="F5A623"/>
                </a:solidFill>
                <a:latin typeface="Calibri" pitchFamily="34" charset="0"/>
                <a:ea typeface="Calibri" pitchFamily="34" charset="-122"/>
                <a:cs typeface="Calibri" pitchFamily="34" charset="-120"/>
              </a:rPr>
              <a:t>Layer 2</a:t>
            </a:r>
            <a:endParaRPr lang="en-US" sz="1000" dirty="0"/>
          </a:p>
        </p:txBody>
      </p:sp>
      <p:sp>
        <p:nvSpPr>
          <p:cNvPr id="20" name="Text 18"/>
          <p:cNvSpPr/>
          <p:nvPr/>
        </p:nvSpPr>
        <p:spPr>
          <a:xfrm>
            <a:off x="3200400" y="2926080"/>
            <a:ext cx="2651760" cy="411480"/>
          </a:xfrm>
          <a:prstGeom prst="rect">
            <a:avLst/>
          </a:prstGeom>
          <a:noFill/>
          <a:ln/>
        </p:spPr>
        <p:txBody>
          <a:bodyPr wrap="square" lIns="0" tIns="0" rIns="0" bIns="0" rtlCol="0" anchor="ctr"/>
          <a:lstStyle/>
          <a:p>
            <a:pPr algn="ctr" indent="0" marL="0">
              <a:buNone/>
            </a:pPr>
            <a:r>
              <a:rPr lang="en-US" sz="1300" b="1" dirty="0">
                <a:solidFill>
                  <a:srgbClr val="1E2344"/>
                </a:solidFill>
                <a:latin typeface="Calibri" pitchFamily="34" charset="0"/>
                <a:ea typeface="Calibri" pitchFamily="34" charset="-122"/>
                <a:cs typeface="Calibri" pitchFamily="34" charset="-120"/>
              </a:rPr>
              <a:t>Lost Upsell Opportunity</a:t>
            </a:r>
            <a:endParaRPr lang="en-US" sz="1300" dirty="0"/>
          </a:p>
        </p:txBody>
      </p:sp>
      <p:sp>
        <p:nvSpPr>
          <p:cNvPr id="21" name="Text 19"/>
          <p:cNvSpPr/>
          <p:nvPr/>
        </p:nvSpPr>
        <p:spPr>
          <a:xfrm>
            <a:off x="3337560" y="3383280"/>
            <a:ext cx="2377440" cy="128016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Existing customers have a 65% upsell probability. New prospects have only 13%. Each churned customer kills a future upsell.</a:t>
            </a:r>
            <a:endParaRPr lang="en-US" sz="1100" dirty="0"/>
          </a:p>
        </p:txBody>
      </p:sp>
      <p:sp>
        <p:nvSpPr>
          <p:cNvPr id="22" name="Shape 20"/>
          <p:cNvSpPr/>
          <p:nvPr/>
        </p:nvSpPr>
        <p:spPr>
          <a:xfrm>
            <a:off x="6035040" y="2423160"/>
            <a:ext cx="26517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Shape 21"/>
          <p:cNvSpPr/>
          <p:nvPr/>
        </p:nvSpPr>
        <p:spPr>
          <a:xfrm>
            <a:off x="6035040" y="2423160"/>
            <a:ext cx="2651760" cy="109728"/>
          </a:xfrm>
          <a:prstGeom prst="rect">
            <a:avLst/>
          </a:prstGeom>
          <a:solidFill>
            <a:srgbClr val="1EB0A0"/>
          </a:solidFill>
          <a:ln/>
        </p:spPr>
      </p:sp>
      <p:sp>
        <p:nvSpPr>
          <p:cNvPr id="24" name="Text 22"/>
          <p:cNvSpPr/>
          <p:nvPr/>
        </p:nvSpPr>
        <p:spPr>
          <a:xfrm>
            <a:off x="6035040" y="2606040"/>
            <a:ext cx="2651760" cy="320040"/>
          </a:xfrm>
          <a:prstGeom prst="rect">
            <a:avLst/>
          </a:prstGeom>
          <a:noFill/>
          <a:ln/>
        </p:spPr>
        <p:txBody>
          <a:bodyPr wrap="square" lIns="0" tIns="0" rIns="0" bIns="0" rtlCol="0" anchor="ctr"/>
          <a:lstStyle/>
          <a:p>
            <a:pPr algn="ctr" indent="0" marL="0">
              <a:buNone/>
            </a:pPr>
            <a:r>
              <a:rPr lang="en-US" sz="1000" b="1" dirty="0">
                <a:solidFill>
                  <a:srgbClr val="1EB0A0"/>
                </a:solidFill>
                <a:latin typeface="Calibri" pitchFamily="34" charset="0"/>
                <a:ea typeface="Calibri" pitchFamily="34" charset="-122"/>
                <a:cs typeface="Calibri" pitchFamily="34" charset="-120"/>
              </a:rPr>
              <a:t>Layer 3</a:t>
            </a:r>
            <a:endParaRPr lang="en-US" sz="1000" dirty="0"/>
          </a:p>
        </p:txBody>
      </p:sp>
      <p:sp>
        <p:nvSpPr>
          <p:cNvPr id="25" name="Text 23"/>
          <p:cNvSpPr/>
          <p:nvPr/>
        </p:nvSpPr>
        <p:spPr>
          <a:xfrm>
            <a:off x="6035040" y="2926080"/>
            <a:ext cx="2651760" cy="411480"/>
          </a:xfrm>
          <a:prstGeom prst="rect">
            <a:avLst/>
          </a:prstGeom>
          <a:noFill/>
          <a:ln/>
        </p:spPr>
        <p:txBody>
          <a:bodyPr wrap="square" lIns="0" tIns="0" rIns="0" bIns="0" rtlCol="0" anchor="ctr"/>
          <a:lstStyle/>
          <a:p>
            <a:pPr algn="ctr" indent="0" marL="0">
              <a:buNone/>
            </a:pPr>
            <a:r>
              <a:rPr lang="en-US" sz="1300" b="1" dirty="0">
                <a:solidFill>
                  <a:srgbClr val="1E2344"/>
                </a:solidFill>
                <a:latin typeface="Calibri" pitchFamily="34" charset="0"/>
                <a:ea typeface="Calibri" pitchFamily="34" charset="-122"/>
                <a:cs typeface="Calibri" pitchFamily="34" charset="-120"/>
              </a:rPr>
              <a:t>Customer Acquisition Cost</a:t>
            </a:r>
            <a:endParaRPr lang="en-US" sz="1300" dirty="0"/>
          </a:p>
        </p:txBody>
      </p:sp>
      <p:sp>
        <p:nvSpPr>
          <p:cNvPr id="26" name="Text 24"/>
          <p:cNvSpPr/>
          <p:nvPr/>
        </p:nvSpPr>
        <p:spPr>
          <a:xfrm>
            <a:off x="6172200" y="3383280"/>
            <a:ext cx="2377440" cy="128016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It costs 5× more to acquire a new customer than to retain one. Rising churn forces overspend on marketing just to stay flat.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We Analysed — Dataset &amp; Methodology</a:t>
            </a:r>
            <a:endParaRPr lang="en-US" sz="2200" dirty="0"/>
          </a:p>
        </p:txBody>
      </p:sp>
      <p:sp>
        <p:nvSpPr>
          <p:cNvPr id="4" name="Shape 2"/>
          <p:cNvSpPr/>
          <p:nvPr/>
        </p:nvSpPr>
        <p:spPr>
          <a:xfrm>
            <a:off x="320040" y="777240"/>
            <a:ext cx="192024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Text 3"/>
          <p:cNvSpPr/>
          <p:nvPr/>
        </p:nvSpPr>
        <p:spPr>
          <a:xfrm>
            <a:off x="320040" y="941832"/>
            <a:ext cx="1920240" cy="678942"/>
          </a:xfrm>
          <a:prstGeom prst="rect">
            <a:avLst/>
          </a:prstGeom>
          <a:noFill/>
          <a:ln/>
        </p:spPr>
        <p:txBody>
          <a:bodyPr wrap="square" lIns="0" tIns="0" rIns="0" bIns="0" rtlCol="0" anchor="ctr"/>
          <a:lstStyle/>
          <a:p>
            <a:pPr algn="ctr" indent="0" marL="0">
              <a:buNone/>
            </a:pPr>
            <a:r>
              <a:rPr lang="en-US" sz="4000" b="1" dirty="0">
                <a:solidFill>
                  <a:srgbClr val="0F2044"/>
                </a:solidFill>
                <a:latin typeface="Calibri" pitchFamily="34" charset="0"/>
                <a:ea typeface="Calibri" pitchFamily="34" charset="-122"/>
                <a:cs typeface="Calibri" pitchFamily="34" charset="-120"/>
              </a:rPr>
              <a:t>5,630</a:t>
            </a:r>
            <a:endParaRPr lang="en-US" sz="4000" dirty="0"/>
          </a:p>
        </p:txBody>
      </p:sp>
      <p:sp>
        <p:nvSpPr>
          <p:cNvPr id="6" name="Text 4"/>
          <p:cNvSpPr/>
          <p:nvPr/>
        </p:nvSpPr>
        <p:spPr>
          <a:xfrm>
            <a:off x="320040" y="1517904"/>
            <a:ext cx="1920240" cy="469087"/>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Total Customers</a:t>
            </a:r>
            <a:endParaRPr lang="en-US" sz="1200" dirty="0"/>
          </a:p>
        </p:txBody>
      </p:sp>
      <p:sp>
        <p:nvSpPr>
          <p:cNvPr id="7" name="Shape 5"/>
          <p:cNvSpPr/>
          <p:nvPr/>
        </p:nvSpPr>
        <p:spPr>
          <a:xfrm>
            <a:off x="2468880" y="777240"/>
            <a:ext cx="192024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6"/>
          <p:cNvSpPr/>
          <p:nvPr/>
        </p:nvSpPr>
        <p:spPr>
          <a:xfrm>
            <a:off x="2468880" y="941832"/>
            <a:ext cx="1920240" cy="678942"/>
          </a:xfrm>
          <a:prstGeom prst="rect">
            <a:avLst/>
          </a:prstGeom>
          <a:noFill/>
          <a:ln/>
        </p:spPr>
        <p:txBody>
          <a:bodyPr wrap="square" lIns="0" tIns="0" rIns="0" bIns="0" rtlCol="0" anchor="ctr"/>
          <a:lstStyle/>
          <a:p>
            <a:pPr algn="ctr" indent="0" marL="0">
              <a:buNone/>
            </a:pPr>
            <a:r>
              <a:rPr lang="en-US" sz="4000" b="1" dirty="0">
                <a:solidFill>
                  <a:srgbClr val="0F2044"/>
                </a:solidFill>
                <a:latin typeface="Calibri" pitchFamily="34" charset="0"/>
                <a:ea typeface="Calibri" pitchFamily="34" charset="-122"/>
                <a:cs typeface="Calibri" pitchFamily="34" charset="-120"/>
              </a:rPr>
              <a:t>21</a:t>
            </a:r>
            <a:endParaRPr lang="en-US" sz="4000" dirty="0"/>
          </a:p>
        </p:txBody>
      </p:sp>
      <p:sp>
        <p:nvSpPr>
          <p:cNvPr id="9" name="Text 7"/>
          <p:cNvSpPr/>
          <p:nvPr/>
        </p:nvSpPr>
        <p:spPr>
          <a:xfrm>
            <a:off x="2468880" y="1517904"/>
            <a:ext cx="1920240" cy="469087"/>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Data Features</a:t>
            </a:r>
            <a:endParaRPr lang="en-US" sz="1200" dirty="0"/>
          </a:p>
        </p:txBody>
      </p:sp>
      <p:sp>
        <p:nvSpPr>
          <p:cNvPr id="10" name="Shape 8"/>
          <p:cNvSpPr/>
          <p:nvPr/>
        </p:nvSpPr>
        <p:spPr>
          <a:xfrm>
            <a:off x="4617720" y="777240"/>
            <a:ext cx="192024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4617720" y="941832"/>
            <a:ext cx="1920240" cy="678942"/>
          </a:xfrm>
          <a:prstGeom prst="rect">
            <a:avLst/>
          </a:prstGeom>
          <a:noFill/>
          <a:ln/>
        </p:spPr>
        <p:txBody>
          <a:bodyPr wrap="square" lIns="0" tIns="0" rIns="0" bIns="0" rtlCol="0" anchor="ctr"/>
          <a:lstStyle/>
          <a:p>
            <a:pPr algn="ctr" indent="0" marL="0">
              <a:buNone/>
            </a:pPr>
            <a:r>
              <a:rPr lang="en-US" sz="4000" b="1" dirty="0">
                <a:solidFill>
                  <a:srgbClr val="0F2044"/>
                </a:solidFill>
                <a:latin typeface="Calibri" pitchFamily="34" charset="0"/>
                <a:ea typeface="Calibri" pitchFamily="34" charset="-122"/>
                <a:cs typeface="Calibri" pitchFamily="34" charset="-120"/>
              </a:rPr>
              <a:t>948</a:t>
            </a:r>
            <a:endParaRPr lang="en-US" sz="4000" dirty="0"/>
          </a:p>
        </p:txBody>
      </p:sp>
      <p:sp>
        <p:nvSpPr>
          <p:cNvPr id="12" name="Text 10"/>
          <p:cNvSpPr/>
          <p:nvPr/>
        </p:nvSpPr>
        <p:spPr>
          <a:xfrm>
            <a:off x="4617720" y="1517904"/>
            <a:ext cx="1920240" cy="469087"/>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Churned Customers</a:t>
            </a:r>
            <a:endParaRPr lang="en-US" sz="1200" dirty="0"/>
          </a:p>
        </p:txBody>
      </p:sp>
      <p:sp>
        <p:nvSpPr>
          <p:cNvPr id="13" name="Shape 11"/>
          <p:cNvSpPr/>
          <p:nvPr/>
        </p:nvSpPr>
        <p:spPr>
          <a:xfrm>
            <a:off x="6766560" y="777240"/>
            <a:ext cx="192024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Text 12"/>
          <p:cNvSpPr/>
          <p:nvPr/>
        </p:nvSpPr>
        <p:spPr>
          <a:xfrm>
            <a:off x="6766560" y="941832"/>
            <a:ext cx="1920240" cy="678942"/>
          </a:xfrm>
          <a:prstGeom prst="rect">
            <a:avLst/>
          </a:prstGeom>
          <a:noFill/>
          <a:ln/>
        </p:spPr>
        <p:txBody>
          <a:bodyPr wrap="square" lIns="0" tIns="0" rIns="0" bIns="0" rtlCol="0" anchor="ctr"/>
          <a:lstStyle/>
          <a:p>
            <a:pPr algn="ctr" indent="0" marL="0">
              <a:buNone/>
            </a:pPr>
            <a:r>
              <a:rPr lang="en-US" sz="4000" b="1" dirty="0">
                <a:solidFill>
                  <a:srgbClr val="0F2044"/>
                </a:solidFill>
                <a:latin typeface="Calibri" pitchFamily="34" charset="0"/>
                <a:ea typeface="Calibri" pitchFamily="34" charset="-122"/>
                <a:cs typeface="Calibri" pitchFamily="34" charset="-120"/>
              </a:rPr>
              <a:t>28.5%</a:t>
            </a:r>
            <a:endParaRPr lang="en-US" sz="4000" dirty="0"/>
          </a:p>
        </p:txBody>
      </p:sp>
      <p:sp>
        <p:nvSpPr>
          <p:cNvPr id="15" name="Text 13"/>
          <p:cNvSpPr/>
          <p:nvPr/>
        </p:nvSpPr>
        <p:spPr>
          <a:xfrm>
            <a:off x="6766560" y="1517904"/>
            <a:ext cx="1920240" cy="469087"/>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Complaint Rate</a:t>
            </a:r>
            <a:endParaRPr lang="en-US" sz="1200" dirty="0"/>
          </a:p>
        </p:txBody>
      </p:sp>
      <p:sp>
        <p:nvSpPr>
          <p:cNvPr id="16" name="Text 14"/>
          <p:cNvSpPr/>
          <p:nvPr/>
        </p:nvSpPr>
        <p:spPr>
          <a:xfrm>
            <a:off x="365760" y="2194560"/>
            <a:ext cx="8412480" cy="365760"/>
          </a:xfrm>
          <a:prstGeom prst="rect">
            <a:avLst/>
          </a:prstGeom>
          <a:noFill/>
          <a:ln/>
        </p:spPr>
        <p:txBody>
          <a:bodyPr wrap="square" lIns="0" tIns="0" rIns="0" bIns="0" rtlCol="0" anchor="ctr"/>
          <a:lstStyle/>
          <a:p>
            <a:pPr indent="0" marL="0">
              <a:buNone/>
            </a:pPr>
            <a:r>
              <a:rPr lang="en-US" sz="1500" b="1" dirty="0">
                <a:solidFill>
                  <a:srgbClr val="1E2344"/>
                </a:solidFill>
                <a:latin typeface="Calibri" pitchFamily="34" charset="0"/>
                <a:ea typeface="Calibri" pitchFamily="34" charset="-122"/>
                <a:cs typeface="Calibri" pitchFamily="34" charset="-120"/>
              </a:rPr>
              <a:t>5-Phase Analytical Approach</a:t>
            </a:r>
            <a:endParaRPr lang="en-US" sz="1500" dirty="0"/>
          </a:p>
        </p:txBody>
      </p:sp>
      <p:sp>
        <p:nvSpPr>
          <p:cNvPr id="17" name="Shape 15"/>
          <p:cNvSpPr/>
          <p:nvPr/>
        </p:nvSpPr>
        <p:spPr>
          <a:xfrm>
            <a:off x="320040" y="2697480"/>
            <a:ext cx="1572768" cy="2148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18" name="Text 16"/>
          <p:cNvSpPr/>
          <p:nvPr/>
        </p:nvSpPr>
        <p:spPr>
          <a:xfrm>
            <a:off x="320040" y="2788920"/>
            <a:ext cx="1572768" cy="457200"/>
          </a:xfrm>
          <a:prstGeom prst="rect">
            <a:avLst/>
          </a:prstGeom>
          <a:noFill/>
          <a:ln/>
        </p:spPr>
        <p:txBody>
          <a:bodyPr wrap="square" lIns="0" tIns="0" rIns="0" bIns="0" rtlCol="0" anchor="ctr"/>
          <a:lstStyle/>
          <a:p>
            <a:pPr algn="ctr" indent="0" marL="0">
              <a:buNone/>
            </a:pPr>
            <a:r>
              <a:rPr lang="en-US" sz="2000" b="1" dirty="0">
                <a:solidFill>
                  <a:srgbClr val="E84855"/>
                </a:solidFill>
                <a:latin typeface="Calibri" pitchFamily="34" charset="0"/>
                <a:ea typeface="Calibri" pitchFamily="34" charset="-122"/>
                <a:cs typeface="Calibri" pitchFamily="34" charset="-120"/>
              </a:rPr>
              <a:t>01</a:t>
            </a:r>
            <a:endParaRPr lang="en-US" sz="2000" dirty="0"/>
          </a:p>
        </p:txBody>
      </p:sp>
      <p:sp>
        <p:nvSpPr>
          <p:cNvPr id="19" name="Text 17"/>
          <p:cNvSpPr/>
          <p:nvPr/>
        </p:nvSpPr>
        <p:spPr>
          <a:xfrm>
            <a:off x="320040" y="3246120"/>
            <a:ext cx="157276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0" name="Text 18"/>
          <p:cNvSpPr/>
          <p:nvPr/>
        </p:nvSpPr>
        <p:spPr>
          <a:xfrm>
            <a:off x="411480" y="3703320"/>
            <a:ext cx="1389888" cy="1005840"/>
          </a:xfrm>
          <a:prstGeom prst="rect">
            <a:avLst/>
          </a:prstGeom>
          <a:noFill/>
          <a:ln/>
        </p:spPr>
        <p:txBody>
          <a:bodyPr wrap="square" lIns="0" tIns="0" rIns="0" bIns="0" rtlCol="0" anchor="ctr"/>
          <a:lstStyle/>
          <a:p>
            <a:pPr algn="ctr" indent="0" marL="0">
              <a:buNone/>
            </a:pPr>
            <a:r>
              <a:rPr lang="en-US" sz="1000" dirty="0">
                <a:solidFill>
                  <a:srgbClr val="9EAEC8"/>
                </a:solidFill>
                <a:latin typeface="Calibri" pitchFamily="34" charset="0"/>
                <a:ea typeface="Calibri" pitchFamily="34" charset="-122"/>
                <a:cs typeface="Calibri" pitchFamily="34" charset="-120"/>
              </a:rPr>
              <a:t>Exploratory data analysis — patterns, distributions, correlations</a:t>
            </a:r>
            <a:endParaRPr lang="en-US" sz="1000" dirty="0"/>
          </a:p>
        </p:txBody>
      </p:sp>
      <p:sp>
        <p:nvSpPr>
          <p:cNvPr id="21" name="Shape 19"/>
          <p:cNvSpPr/>
          <p:nvPr/>
        </p:nvSpPr>
        <p:spPr>
          <a:xfrm>
            <a:off x="2039112" y="2697480"/>
            <a:ext cx="1572768" cy="2148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22" name="Text 20"/>
          <p:cNvSpPr/>
          <p:nvPr/>
        </p:nvSpPr>
        <p:spPr>
          <a:xfrm>
            <a:off x="2039112" y="2788920"/>
            <a:ext cx="1572768" cy="457200"/>
          </a:xfrm>
          <a:prstGeom prst="rect">
            <a:avLst/>
          </a:prstGeom>
          <a:noFill/>
          <a:ln/>
        </p:spPr>
        <p:txBody>
          <a:bodyPr wrap="square" lIns="0" tIns="0" rIns="0" bIns="0" rtlCol="0" anchor="ctr"/>
          <a:lstStyle/>
          <a:p>
            <a:pPr algn="ctr" indent="0" marL="0">
              <a:buNone/>
            </a:pPr>
            <a:r>
              <a:rPr lang="en-US" sz="2000" b="1" dirty="0">
                <a:solidFill>
                  <a:srgbClr val="E84855"/>
                </a:solidFill>
                <a:latin typeface="Calibri" pitchFamily="34" charset="0"/>
                <a:ea typeface="Calibri" pitchFamily="34" charset="-122"/>
                <a:cs typeface="Calibri" pitchFamily="34" charset="-120"/>
              </a:rPr>
              <a:t>02</a:t>
            </a:r>
            <a:endParaRPr lang="en-US" sz="2000" dirty="0"/>
          </a:p>
        </p:txBody>
      </p:sp>
      <p:sp>
        <p:nvSpPr>
          <p:cNvPr id="23" name="Text 21"/>
          <p:cNvSpPr/>
          <p:nvPr/>
        </p:nvSpPr>
        <p:spPr>
          <a:xfrm>
            <a:off x="2039112" y="3246120"/>
            <a:ext cx="157276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Statistical Testing</a:t>
            </a:r>
            <a:endParaRPr lang="en-US" sz="1200" dirty="0"/>
          </a:p>
        </p:txBody>
      </p:sp>
      <p:sp>
        <p:nvSpPr>
          <p:cNvPr id="24" name="Text 22"/>
          <p:cNvSpPr/>
          <p:nvPr/>
        </p:nvSpPr>
        <p:spPr>
          <a:xfrm>
            <a:off x="2130552" y="3703320"/>
            <a:ext cx="1389888" cy="1005840"/>
          </a:xfrm>
          <a:prstGeom prst="rect">
            <a:avLst/>
          </a:prstGeom>
          <a:noFill/>
          <a:ln/>
        </p:spPr>
        <p:txBody>
          <a:bodyPr wrap="square" lIns="0" tIns="0" rIns="0" bIns="0" rtlCol="0" anchor="ctr"/>
          <a:lstStyle/>
          <a:p>
            <a:pPr algn="ctr" indent="0" marL="0">
              <a:buNone/>
            </a:pPr>
            <a:r>
              <a:rPr lang="en-US" sz="1000" dirty="0">
                <a:solidFill>
                  <a:srgbClr val="9EAEC8"/>
                </a:solidFill>
                <a:latin typeface="Calibri" pitchFamily="34" charset="0"/>
                <a:ea typeface="Calibri" pitchFamily="34" charset="-122"/>
                <a:cs typeface="Calibri" pitchFamily="34" charset="-120"/>
              </a:rPr>
              <a:t>Chi-square &amp; Mann-Whitney tests to confirm significant drivers</a:t>
            </a:r>
            <a:endParaRPr lang="en-US" sz="1000" dirty="0"/>
          </a:p>
        </p:txBody>
      </p:sp>
      <p:sp>
        <p:nvSpPr>
          <p:cNvPr id="25" name="Shape 23"/>
          <p:cNvSpPr/>
          <p:nvPr/>
        </p:nvSpPr>
        <p:spPr>
          <a:xfrm>
            <a:off x="3758184" y="2697480"/>
            <a:ext cx="1572768" cy="2148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26" name="Text 24"/>
          <p:cNvSpPr/>
          <p:nvPr/>
        </p:nvSpPr>
        <p:spPr>
          <a:xfrm>
            <a:off x="3758184" y="2788920"/>
            <a:ext cx="1572768" cy="457200"/>
          </a:xfrm>
          <a:prstGeom prst="rect">
            <a:avLst/>
          </a:prstGeom>
          <a:noFill/>
          <a:ln/>
        </p:spPr>
        <p:txBody>
          <a:bodyPr wrap="square" lIns="0" tIns="0" rIns="0" bIns="0" rtlCol="0" anchor="ctr"/>
          <a:lstStyle/>
          <a:p>
            <a:pPr algn="ctr" indent="0" marL="0">
              <a:buNone/>
            </a:pPr>
            <a:r>
              <a:rPr lang="en-US" sz="2000" b="1" dirty="0">
                <a:solidFill>
                  <a:srgbClr val="E84855"/>
                </a:solidFill>
                <a:latin typeface="Calibri" pitchFamily="34" charset="0"/>
                <a:ea typeface="Calibri" pitchFamily="34" charset="-122"/>
                <a:cs typeface="Calibri" pitchFamily="34" charset="-120"/>
              </a:rPr>
              <a:t>03</a:t>
            </a:r>
            <a:endParaRPr lang="en-US" sz="2000" dirty="0"/>
          </a:p>
        </p:txBody>
      </p:sp>
      <p:sp>
        <p:nvSpPr>
          <p:cNvPr id="27" name="Text 25"/>
          <p:cNvSpPr/>
          <p:nvPr/>
        </p:nvSpPr>
        <p:spPr>
          <a:xfrm>
            <a:off x="3758184" y="3246120"/>
            <a:ext cx="157276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Logistic Regression</a:t>
            </a:r>
            <a:endParaRPr lang="en-US" sz="1200" dirty="0"/>
          </a:p>
        </p:txBody>
      </p:sp>
      <p:sp>
        <p:nvSpPr>
          <p:cNvPr id="28" name="Text 26"/>
          <p:cNvSpPr/>
          <p:nvPr/>
        </p:nvSpPr>
        <p:spPr>
          <a:xfrm>
            <a:off x="3849624" y="3703320"/>
            <a:ext cx="1389888" cy="1005840"/>
          </a:xfrm>
          <a:prstGeom prst="rect">
            <a:avLst/>
          </a:prstGeom>
          <a:noFill/>
          <a:ln/>
        </p:spPr>
        <p:txBody>
          <a:bodyPr wrap="square" lIns="0" tIns="0" rIns="0" bIns="0" rtlCol="0" anchor="ctr"/>
          <a:lstStyle/>
          <a:p>
            <a:pPr algn="ctr" indent="0" marL="0">
              <a:buNone/>
            </a:pPr>
            <a:r>
              <a:rPr lang="en-US" sz="1000" dirty="0">
                <a:solidFill>
                  <a:srgbClr val="9EAEC8"/>
                </a:solidFill>
                <a:latin typeface="Calibri" pitchFamily="34" charset="0"/>
                <a:ea typeface="Calibri" pitchFamily="34" charset="-122"/>
                <a:cs typeface="Calibri" pitchFamily="34" charset="-120"/>
              </a:rPr>
              <a:t>Model churn probability &amp; rank drivers by odds ratio</a:t>
            </a:r>
            <a:endParaRPr lang="en-US" sz="1000" dirty="0"/>
          </a:p>
        </p:txBody>
      </p:sp>
      <p:sp>
        <p:nvSpPr>
          <p:cNvPr id="29" name="Shape 27"/>
          <p:cNvSpPr/>
          <p:nvPr/>
        </p:nvSpPr>
        <p:spPr>
          <a:xfrm>
            <a:off x="5477256" y="2697480"/>
            <a:ext cx="1572768" cy="2148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30" name="Text 28"/>
          <p:cNvSpPr/>
          <p:nvPr/>
        </p:nvSpPr>
        <p:spPr>
          <a:xfrm>
            <a:off x="5477256" y="2788920"/>
            <a:ext cx="1572768" cy="457200"/>
          </a:xfrm>
          <a:prstGeom prst="rect">
            <a:avLst/>
          </a:prstGeom>
          <a:noFill/>
          <a:ln/>
        </p:spPr>
        <p:txBody>
          <a:bodyPr wrap="square" lIns="0" tIns="0" rIns="0" bIns="0" rtlCol="0" anchor="ctr"/>
          <a:lstStyle/>
          <a:p>
            <a:pPr algn="ctr" indent="0" marL="0">
              <a:buNone/>
            </a:pPr>
            <a:r>
              <a:rPr lang="en-US" sz="2000" b="1" dirty="0">
                <a:solidFill>
                  <a:srgbClr val="E84855"/>
                </a:solidFill>
                <a:latin typeface="Calibri" pitchFamily="34" charset="0"/>
                <a:ea typeface="Calibri" pitchFamily="34" charset="-122"/>
                <a:cs typeface="Calibri" pitchFamily="34" charset="-120"/>
              </a:rPr>
              <a:t>04</a:t>
            </a:r>
            <a:endParaRPr lang="en-US" sz="2000" dirty="0"/>
          </a:p>
        </p:txBody>
      </p:sp>
      <p:sp>
        <p:nvSpPr>
          <p:cNvPr id="31" name="Text 29"/>
          <p:cNvSpPr/>
          <p:nvPr/>
        </p:nvSpPr>
        <p:spPr>
          <a:xfrm>
            <a:off x="5477256" y="3246120"/>
            <a:ext cx="157276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K-Means Clustering</a:t>
            </a:r>
            <a:endParaRPr lang="en-US" sz="1200" dirty="0"/>
          </a:p>
        </p:txBody>
      </p:sp>
      <p:sp>
        <p:nvSpPr>
          <p:cNvPr id="32" name="Text 30"/>
          <p:cNvSpPr/>
          <p:nvPr/>
        </p:nvSpPr>
        <p:spPr>
          <a:xfrm>
            <a:off x="5568696" y="3703320"/>
            <a:ext cx="1389888" cy="1005840"/>
          </a:xfrm>
          <a:prstGeom prst="rect">
            <a:avLst/>
          </a:prstGeom>
          <a:noFill/>
          <a:ln/>
        </p:spPr>
        <p:txBody>
          <a:bodyPr wrap="square" lIns="0" tIns="0" rIns="0" bIns="0" rtlCol="0" anchor="ctr"/>
          <a:lstStyle/>
          <a:p>
            <a:pPr algn="ctr" indent="0" marL="0">
              <a:buNone/>
            </a:pPr>
            <a:r>
              <a:rPr lang="en-US" sz="1000" dirty="0">
                <a:solidFill>
                  <a:srgbClr val="9EAEC8"/>
                </a:solidFill>
                <a:latin typeface="Calibri" pitchFamily="34" charset="0"/>
                <a:ea typeface="Calibri" pitchFamily="34" charset="-122"/>
                <a:cs typeface="Calibri" pitchFamily="34" charset="-120"/>
              </a:rPr>
              <a:t>Segment customers into risk profiles (K=3)</a:t>
            </a:r>
            <a:endParaRPr lang="en-US" sz="1000" dirty="0"/>
          </a:p>
        </p:txBody>
      </p:sp>
      <p:sp>
        <p:nvSpPr>
          <p:cNvPr id="33" name="Shape 31"/>
          <p:cNvSpPr/>
          <p:nvPr/>
        </p:nvSpPr>
        <p:spPr>
          <a:xfrm>
            <a:off x="7196328" y="2697480"/>
            <a:ext cx="1572768" cy="2148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34" name="Text 32"/>
          <p:cNvSpPr/>
          <p:nvPr/>
        </p:nvSpPr>
        <p:spPr>
          <a:xfrm>
            <a:off x="7196328" y="2788920"/>
            <a:ext cx="1572768" cy="457200"/>
          </a:xfrm>
          <a:prstGeom prst="rect">
            <a:avLst/>
          </a:prstGeom>
          <a:noFill/>
          <a:ln/>
        </p:spPr>
        <p:txBody>
          <a:bodyPr wrap="square" lIns="0" tIns="0" rIns="0" bIns="0" rtlCol="0" anchor="ctr"/>
          <a:lstStyle/>
          <a:p>
            <a:pPr algn="ctr" indent="0" marL="0">
              <a:buNone/>
            </a:pPr>
            <a:r>
              <a:rPr lang="en-US" sz="2000" b="1" dirty="0">
                <a:solidFill>
                  <a:srgbClr val="E84855"/>
                </a:solidFill>
                <a:latin typeface="Calibri" pitchFamily="34" charset="0"/>
                <a:ea typeface="Calibri" pitchFamily="34" charset="-122"/>
                <a:cs typeface="Calibri" pitchFamily="34" charset="-120"/>
              </a:rPr>
              <a:t>05</a:t>
            </a:r>
            <a:endParaRPr lang="en-US" sz="2000" dirty="0"/>
          </a:p>
        </p:txBody>
      </p:sp>
      <p:sp>
        <p:nvSpPr>
          <p:cNvPr id="35" name="Text 33"/>
          <p:cNvSpPr/>
          <p:nvPr/>
        </p:nvSpPr>
        <p:spPr>
          <a:xfrm>
            <a:off x="7196328" y="3246120"/>
            <a:ext cx="157276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Recommendations</a:t>
            </a:r>
            <a:endParaRPr lang="en-US" sz="1200" dirty="0"/>
          </a:p>
        </p:txBody>
      </p:sp>
      <p:sp>
        <p:nvSpPr>
          <p:cNvPr id="36" name="Text 34"/>
          <p:cNvSpPr/>
          <p:nvPr/>
        </p:nvSpPr>
        <p:spPr>
          <a:xfrm>
            <a:off x="7287768" y="3703320"/>
            <a:ext cx="1389888" cy="1005840"/>
          </a:xfrm>
          <a:prstGeom prst="rect">
            <a:avLst/>
          </a:prstGeom>
          <a:noFill/>
          <a:ln/>
        </p:spPr>
        <p:txBody>
          <a:bodyPr wrap="square" lIns="0" tIns="0" rIns="0" bIns="0" rtlCol="0" anchor="ctr"/>
          <a:lstStyle/>
          <a:p>
            <a:pPr algn="ctr" indent="0" marL="0">
              <a:buNone/>
            </a:pPr>
            <a:r>
              <a:rPr lang="en-US" sz="1000" dirty="0">
                <a:solidFill>
                  <a:srgbClr val="9EAEC8"/>
                </a:solidFill>
                <a:latin typeface="Calibri" pitchFamily="34" charset="0"/>
                <a:ea typeface="Calibri" pitchFamily="34" charset="-122"/>
                <a:cs typeface="Calibri" pitchFamily="34" charset="-120"/>
              </a:rPr>
              <a:t>Targeted 30-day onboarding &amp; recovery program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Key Finding 1 — Churn Is a New Customer Problem</a:t>
            </a:r>
            <a:endParaRPr lang="en-US" sz="2200" dirty="0"/>
          </a:p>
        </p:txBody>
      </p:sp>
      <p:graphicFrame>
        <p:nvGraphicFramePr>
          <p:cNvPr id="4" name="Chart 0" descr=""/>
          <p:cNvGraphicFramePr/>
          <p:nvPr/>
        </p:nvGraphicFramePr>
        <p:xfrm>
          <a:off x="365760" y="777240"/>
          <a:ext cx="512064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3"/>
          <p:cNvSpPr/>
          <p:nvPr/>
        </p:nvSpPr>
        <p:spPr>
          <a:xfrm>
            <a:off x="5760720" y="914400"/>
            <a:ext cx="91440" cy="1097280"/>
          </a:xfrm>
          <a:prstGeom prst="rect">
            <a:avLst/>
          </a:prstGeom>
          <a:solidFill>
            <a:srgbClr val="E84855"/>
          </a:solidFill>
          <a:ln/>
        </p:spPr>
      </p:sp>
      <p:sp>
        <p:nvSpPr>
          <p:cNvPr id="7" name="Text 4"/>
          <p:cNvSpPr/>
          <p:nvPr/>
        </p:nvSpPr>
        <p:spPr>
          <a:xfrm>
            <a:off x="5989320" y="1005840"/>
            <a:ext cx="2651760" cy="502920"/>
          </a:xfrm>
          <a:prstGeom prst="rect">
            <a:avLst/>
          </a:prstGeom>
          <a:noFill/>
          <a:ln/>
        </p:spPr>
        <p:txBody>
          <a:bodyPr wrap="square" lIns="0" tIns="0" rIns="0" bIns="0" rtlCol="0" anchor="ctr"/>
          <a:lstStyle/>
          <a:p>
            <a:pPr algn="l" indent="0" marL="0">
              <a:buNone/>
            </a:pPr>
            <a:r>
              <a:rPr lang="en-US" sz="3000" b="1" dirty="0">
                <a:solidFill>
                  <a:srgbClr val="E84855"/>
                </a:solidFill>
                <a:latin typeface="Calibri" pitchFamily="34" charset="0"/>
                <a:ea typeface="Calibri" pitchFamily="34" charset="-122"/>
                <a:cs typeface="Calibri" pitchFamily="34" charset="-120"/>
              </a:rPr>
              <a:t>26%</a:t>
            </a:r>
            <a:endParaRPr lang="en-US" sz="3000" dirty="0"/>
          </a:p>
        </p:txBody>
      </p:sp>
      <p:sp>
        <p:nvSpPr>
          <p:cNvPr id="8" name="Text 5"/>
          <p:cNvSpPr/>
          <p:nvPr/>
        </p:nvSpPr>
        <p:spPr>
          <a:xfrm>
            <a:off x="5989320" y="1508760"/>
            <a:ext cx="2651760" cy="41148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Churn in first 6 months</a:t>
            </a:r>
            <a:endParaRPr lang="en-US" sz="1100" dirty="0"/>
          </a:p>
        </p:txBody>
      </p:sp>
      <p:sp>
        <p:nvSpPr>
          <p:cNvPr id="9" name="Shape 6"/>
          <p:cNvSpPr/>
          <p:nvPr/>
        </p:nvSpPr>
        <p:spPr>
          <a:xfrm>
            <a:off x="5760720" y="2194560"/>
            <a:ext cx="301752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7"/>
          <p:cNvSpPr/>
          <p:nvPr/>
        </p:nvSpPr>
        <p:spPr>
          <a:xfrm>
            <a:off x="5760720" y="2194560"/>
            <a:ext cx="91440" cy="1097280"/>
          </a:xfrm>
          <a:prstGeom prst="rect">
            <a:avLst/>
          </a:prstGeom>
          <a:solidFill>
            <a:srgbClr val="1EB0A0"/>
          </a:solidFill>
          <a:ln/>
        </p:spPr>
      </p:sp>
      <p:sp>
        <p:nvSpPr>
          <p:cNvPr id="11" name="Text 8"/>
          <p:cNvSpPr/>
          <p:nvPr/>
        </p:nvSpPr>
        <p:spPr>
          <a:xfrm>
            <a:off x="5989320" y="2286000"/>
            <a:ext cx="2651760" cy="502920"/>
          </a:xfrm>
          <a:prstGeom prst="rect">
            <a:avLst/>
          </a:prstGeom>
          <a:noFill/>
          <a:ln/>
        </p:spPr>
        <p:txBody>
          <a:bodyPr wrap="square" lIns="0" tIns="0" rIns="0" bIns="0" rtlCol="0" anchor="ctr"/>
          <a:lstStyle/>
          <a:p>
            <a:pPr algn="l" indent="0" marL="0">
              <a:buNone/>
            </a:pPr>
            <a:r>
              <a:rPr lang="en-US" sz="3000" b="1" dirty="0">
                <a:solidFill>
                  <a:srgbClr val="1EB0A0"/>
                </a:solidFill>
                <a:latin typeface="Calibri" pitchFamily="34" charset="0"/>
                <a:ea typeface="Calibri" pitchFamily="34" charset="-122"/>
                <a:cs typeface="Calibri" pitchFamily="34" charset="-120"/>
              </a:rPr>
              <a:t>0.5%</a:t>
            </a:r>
            <a:endParaRPr lang="en-US" sz="3000" dirty="0"/>
          </a:p>
        </p:txBody>
      </p:sp>
      <p:sp>
        <p:nvSpPr>
          <p:cNvPr id="12" name="Text 9"/>
          <p:cNvSpPr/>
          <p:nvPr/>
        </p:nvSpPr>
        <p:spPr>
          <a:xfrm>
            <a:off x="5989320" y="2788920"/>
            <a:ext cx="2651760" cy="41148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Churn after 24+ months</a:t>
            </a:r>
            <a:endParaRPr lang="en-US" sz="1100" dirty="0"/>
          </a:p>
        </p:txBody>
      </p:sp>
      <p:sp>
        <p:nvSpPr>
          <p:cNvPr id="13" name="Shape 10"/>
          <p:cNvSpPr/>
          <p:nvPr/>
        </p:nvSpPr>
        <p:spPr>
          <a:xfrm>
            <a:off x="5760720" y="3474720"/>
            <a:ext cx="301752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1"/>
          <p:cNvSpPr/>
          <p:nvPr/>
        </p:nvSpPr>
        <p:spPr>
          <a:xfrm>
            <a:off x="5760720" y="3474720"/>
            <a:ext cx="91440" cy="1097280"/>
          </a:xfrm>
          <a:prstGeom prst="rect">
            <a:avLst/>
          </a:prstGeom>
          <a:solidFill>
            <a:srgbClr val="0F2044"/>
          </a:solidFill>
          <a:ln/>
        </p:spPr>
      </p:sp>
      <p:sp>
        <p:nvSpPr>
          <p:cNvPr id="15" name="Text 12"/>
          <p:cNvSpPr/>
          <p:nvPr/>
        </p:nvSpPr>
        <p:spPr>
          <a:xfrm>
            <a:off x="5989320" y="3566160"/>
            <a:ext cx="2651760" cy="502920"/>
          </a:xfrm>
          <a:prstGeom prst="rect">
            <a:avLst/>
          </a:prstGeom>
          <a:noFill/>
          <a:ln/>
        </p:spPr>
        <p:txBody>
          <a:bodyPr wrap="square" lIns="0" tIns="0" rIns="0" bIns="0" rtlCol="0" anchor="ctr"/>
          <a:lstStyle/>
          <a:p>
            <a:pPr algn="l" indent="0" marL="0">
              <a:buNone/>
            </a:pPr>
            <a:r>
              <a:rPr lang="en-US" sz="3000" b="1" dirty="0">
                <a:solidFill>
                  <a:srgbClr val="0F2044"/>
                </a:solidFill>
                <a:latin typeface="Calibri" pitchFamily="34" charset="0"/>
                <a:ea typeface="Calibri" pitchFamily="34" charset="-122"/>
                <a:cs typeface="Calibri" pitchFamily="34" charset="-120"/>
              </a:rPr>
              <a:t>0.25×</a:t>
            </a:r>
            <a:endParaRPr lang="en-US" sz="3000" dirty="0"/>
          </a:p>
        </p:txBody>
      </p:sp>
      <p:sp>
        <p:nvSpPr>
          <p:cNvPr id="16" name="Text 13"/>
          <p:cNvSpPr/>
          <p:nvPr/>
        </p:nvSpPr>
        <p:spPr>
          <a:xfrm>
            <a:off x="5989320" y="4069080"/>
            <a:ext cx="2651760" cy="41148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Odds ratio — tenure protects strongly</a:t>
            </a:r>
            <a:endParaRPr lang="en-US" sz="1100" dirty="0"/>
          </a:p>
        </p:txBody>
      </p:sp>
      <p:sp>
        <p:nvSpPr>
          <p:cNvPr id="17" name="Text 14"/>
          <p:cNvSpPr/>
          <p:nvPr/>
        </p:nvSpPr>
        <p:spPr>
          <a:xfrm>
            <a:off x="365760" y="4663440"/>
            <a:ext cx="8412480" cy="32004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Customers who survive the first 6 months almost always stay.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Key Finding 2 — Complaints Nearly Triple Churn Rate</a:t>
            </a:r>
            <a:endParaRPr lang="en-US" sz="2200" dirty="0"/>
          </a:p>
        </p:txBody>
      </p:sp>
      <p:graphicFrame>
        <p:nvGraphicFramePr>
          <p:cNvPr id="4" name="Chart 0" descr=""/>
          <p:cNvGraphicFramePr/>
          <p:nvPr/>
        </p:nvGraphicFramePr>
        <p:xfrm>
          <a:off x="365760" y="777240"/>
          <a:ext cx="475488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394960" y="777240"/>
            <a:ext cx="3383280" cy="402336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6" name="Text 3"/>
          <p:cNvSpPr/>
          <p:nvPr/>
        </p:nvSpPr>
        <p:spPr>
          <a:xfrm>
            <a:off x="5394960" y="1097280"/>
            <a:ext cx="3383280" cy="1005840"/>
          </a:xfrm>
          <a:prstGeom prst="rect">
            <a:avLst/>
          </a:prstGeom>
          <a:noFill/>
          <a:ln/>
        </p:spPr>
        <p:txBody>
          <a:bodyPr wrap="square" lIns="0" tIns="0" rIns="0" bIns="0" rtlCol="0" anchor="ctr"/>
          <a:lstStyle/>
          <a:p>
            <a:pPr algn="ctr" indent="0" marL="0">
              <a:buNone/>
            </a:pPr>
            <a:r>
              <a:rPr lang="en-US" sz="6200" b="1" dirty="0">
                <a:solidFill>
                  <a:srgbClr val="E84855"/>
                </a:solidFill>
                <a:latin typeface="Calibri" pitchFamily="34" charset="0"/>
                <a:ea typeface="Calibri" pitchFamily="34" charset="-122"/>
                <a:cs typeface="Calibri" pitchFamily="34" charset="-120"/>
              </a:rPr>
              <a:t>1.97×</a:t>
            </a:r>
            <a:endParaRPr lang="en-US" sz="6200" dirty="0"/>
          </a:p>
        </p:txBody>
      </p:sp>
      <p:sp>
        <p:nvSpPr>
          <p:cNvPr id="7" name="Text 4"/>
          <p:cNvSpPr/>
          <p:nvPr/>
        </p:nvSpPr>
        <p:spPr>
          <a:xfrm>
            <a:off x="5577840" y="2194560"/>
            <a:ext cx="3017520" cy="8229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Odds of churn nearly DOUBLE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when a complaint is filed</a:t>
            </a:r>
            <a:endParaRPr lang="en-US" sz="1400" dirty="0"/>
          </a:p>
        </p:txBody>
      </p:sp>
      <p:sp>
        <p:nvSpPr>
          <p:cNvPr id="8" name="Shape 5"/>
          <p:cNvSpPr/>
          <p:nvPr/>
        </p:nvSpPr>
        <p:spPr>
          <a:xfrm>
            <a:off x="5577840" y="3154680"/>
            <a:ext cx="3017520" cy="0"/>
          </a:xfrm>
          <a:prstGeom prst="rect">
            <a:avLst/>
          </a:prstGeom>
          <a:solidFill>
            <a:srgbClr val="334466"/>
          </a:solidFill>
          <a:ln w="12700">
            <a:solidFill>
              <a:srgbClr val="334466"/>
            </a:solidFill>
            <a:prstDash val="solid"/>
          </a:ln>
        </p:spPr>
      </p:sp>
      <p:sp>
        <p:nvSpPr>
          <p:cNvPr id="9" name="Text 6"/>
          <p:cNvSpPr/>
          <p:nvPr/>
        </p:nvSpPr>
        <p:spPr>
          <a:xfrm>
            <a:off x="5623560" y="3246120"/>
            <a:ext cx="3017520" cy="320040"/>
          </a:xfrm>
          <a:prstGeom prst="rect">
            <a:avLst/>
          </a:prstGeom>
          <a:noFill/>
          <a:ln/>
        </p:spPr>
        <p:txBody>
          <a:bodyPr wrap="square" lIns="0" tIns="0" rIns="0" bIns="0" rtlCol="0" anchor="ctr"/>
          <a:lstStyle/>
          <a:p>
            <a:pPr algn="l" indent="0" marL="0">
              <a:buNone/>
            </a:pPr>
            <a:r>
              <a:rPr lang="en-US" sz="1100" dirty="0">
                <a:solidFill>
                  <a:srgbClr val="9EAEC8"/>
                </a:solidFill>
                <a:latin typeface="Calibri" pitchFamily="34" charset="0"/>
                <a:ea typeface="Calibri" pitchFamily="34" charset="-122"/>
                <a:cs typeface="Calibri" pitchFamily="34" charset="-120"/>
              </a:rPr>
              <a:t>Complaint rate: 28.5% of all customers</a:t>
            </a:r>
            <a:endParaRPr lang="en-US" sz="1100" dirty="0"/>
          </a:p>
        </p:txBody>
      </p:sp>
      <p:sp>
        <p:nvSpPr>
          <p:cNvPr id="10" name="Text 7"/>
          <p:cNvSpPr/>
          <p:nvPr/>
        </p:nvSpPr>
        <p:spPr>
          <a:xfrm>
            <a:off x="5623560" y="3593592"/>
            <a:ext cx="3017520" cy="320040"/>
          </a:xfrm>
          <a:prstGeom prst="rect">
            <a:avLst/>
          </a:prstGeom>
          <a:noFill/>
          <a:ln/>
        </p:spPr>
        <p:txBody>
          <a:bodyPr wrap="square" lIns="0" tIns="0" rIns="0" bIns="0" rtlCol="0" anchor="ctr"/>
          <a:lstStyle/>
          <a:p>
            <a:pPr algn="l" indent="0" marL="0">
              <a:buNone/>
            </a:pPr>
            <a:r>
              <a:rPr lang="en-US" sz="1100" dirty="0">
                <a:solidFill>
                  <a:srgbClr val="9EAEC8"/>
                </a:solidFill>
                <a:latin typeface="Calibri" pitchFamily="34" charset="0"/>
                <a:ea typeface="Calibri" pitchFamily="34" charset="-122"/>
                <a:cs typeface="Calibri" pitchFamily="34" charset="-120"/>
              </a:rPr>
              <a:t>Complained → 31.7% churn</a:t>
            </a:r>
            <a:endParaRPr lang="en-US" sz="1100" dirty="0"/>
          </a:p>
        </p:txBody>
      </p:sp>
      <p:sp>
        <p:nvSpPr>
          <p:cNvPr id="11" name="Text 8"/>
          <p:cNvSpPr/>
          <p:nvPr/>
        </p:nvSpPr>
        <p:spPr>
          <a:xfrm>
            <a:off x="5623560" y="3941064"/>
            <a:ext cx="3017520" cy="320040"/>
          </a:xfrm>
          <a:prstGeom prst="rect">
            <a:avLst/>
          </a:prstGeom>
          <a:noFill/>
          <a:ln/>
        </p:spPr>
        <p:txBody>
          <a:bodyPr wrap="square" lIns="0" tIns="0" rIns="0" bIns="0" rtlCol="0" anchor="ctr"/>
          <a:lstStyle/>
          <a:p>
            <a:pPr algn="l" indent="0" marL="0">
              <a:buNone/>
            </a:pPr>
            <a:r>
              <a:rPr lang="en-US" sz="1100" dirty="0">
                <a:solidFill>
                  <a:srgbClr val="9EAEC8"/>
                </a:solidFill>
                <a:latin typeface="Calibri" pitchFamily="34" charset="0"/>
                <a:ea typeface="Calibri" pitchFamily="34" charset="-122"/>
                <a:cs typeface="Calibri" pitchFamily="34" charset="-120"/>
              </a:rPr>
              <a:t>No complaint → 10.9% churn</a:t>
            </a:r>
            <a:endParaRPr lang="en-US" sz="1100" dirty="0"/>
          </a:p>
        </p:txBody>
      </p:sp>
      <p:sp>
        <p:nvSpPr>
          <p:cNvPr id="12" name="Text 9"/>
          <p:cNvSpPr/>
          <p:nvPr/>
        </p:nvSpPr>
        <p:spPr>
          <a:xfrm>
            <a:off x="5623560" y="4288536"/>
            <a:ext cx="3017520" cy="320040"/>
          </a:xfrm>
          <a:prstGeom prst="rect">
            <a:avLst/>
          </a:prstGeom>
          <a:noFill/>
          <a:ln/>
        </p:spPr>
        <p:txBody>
          <a:bodyPr wrap="square" lIns="0" tIns="0" rIns="0" bIns="0" rtlCol="0" anchor="ctr"/>
          <a:lstStyle/>
          <a:p>
            <a:pPr algn="l" indent="0" marL="0">
              <a:buNone/>
            </a:pPr>
            <a:r>
              <a:rPr lang="en-US" sz="1100" dirty="0">
                <a:solidFill>
                  <a:srgbClr val="9EAEC8"/>
                </a:solidFill>
                <a:latin typeface="Calibri" pitchFamily="34" charset="0"/>
                <a:ea typeface="Calibri" pitchFamily="34" charset="-122"/>
                <a:cs typeface="Calibri" pitchFamily="34" charset="-120"/>
              </a:rPr>
              <a:t>Chi-square score: 350.93 (strongest driver)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Statistical Proof — All Key Variables Confirmed Significant</a:t>
            </a:r>
            <a:endParaRPr lang="en-US" sz="2200" dirty="0"/>
          </a:p>
        </p:txBody>
      </p:sp>
      <p:sp>
        <p:nvSpPr>
          <p:cNvPr id="4" name="Text 2"/>
          <p:cNvSpPr/>
          <p:nvPr/>
        </p:nvSpPr>
        <p:spPr>
          <a:xfrm>
            <a:off x="365760" y="777240"/>
            <a:ext cx="4023360" cy="365760"/>
          </a:xfrm>
          <a:prstGeom prst="rect">
            <a:avLst/>
          </a:prstGeom>
          <a:noFill/>
          <a:ln/>
        </p:spPr>
        <p:txBody>
          <a:bodyPr wrap="square" lIns="0" tIns="0" rIns="0" bIns="0" rtlCol="0" anchor="ctr"/>
          <a:lstStyle/>
          <a:p>
            <a:pPr indent="0" marL="0">
              <a:buNone/>
            </a:pPr>
            <a:r>
              <a:rPr lang="en-US" sz="1300" b="1" dirty="0">
                <a:solidFill>
                  <a:srgbClr val="1E2344"/>
                </a:solidFill>
                <a:latin typeface="Calibri" pitchFamily="34" charset="0"/>
                <a:ea typeface="Calibri" pitchFamily="34" charset="-122"/>
                <a:cs typeface="Calibri" pitchFamily="34" charset="-120"/>
              </a:rPr>
              <a:t>Chi-Square Test (Categorical Variables)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4114800" cy="3474720"/>
        </p:xfrm>
        <a:graphic>
          <a:graphicData uri="http://schemas.openxmlformats.org/drawingml/2006/table">
            <a:tbl>
              <a:tblPr/>
              <a:tblGrid>
                <a:gridCol w="1828800"/>
                <a:gridCol w="1188720"/>
                <a:gridCol w="109728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F20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Chi² Score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F20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Strength</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F2044"/>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Complain</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350.93</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VERY 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Preferred Order Category</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288.64</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VERY 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Marital Status</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188.67</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VERY 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Payment Mode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77.90</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Login Device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73.54</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City Tier</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40.98</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bl>
          </a:graphicData>
        </a:graphic>
      </p:graphicFrame>
      <p:sp>
        <p:nvSpPr>
          <p:cNvPr id="6" name="Text 3"/>
          <p:cNvSpPr/>
          <p:nvPr/>
        </p:nvSpPr>
        <p:spPr>
          <a:xfrm>
            <a:off x="4663440" y="777240"/>
            <a:ext cx="4114800" cy="365760"/>
          </a:xfrm>
          <a:prstGeom prst="rect">
            <a:avLst/>
          </a:prstGeom>
          <a:noFill/>
          <a:ln/>
        </p:spPr>
        <p:txBody>
          <a:bodyPr wrap="square" lIns="0" tIns="0" rIns="0" bIns="0" rtlCol="0" anchor="ctr"/>
          <a:lstStyle/>
          <a:p>
            <a:pPr indent="0" marL="0">
              <a:buNone/>
            </a:pPr>
            <a:r>
              <a:rPr lang="en-US" sz="1300" b="1" dirty="0">
                <a:solidFill>
                  <a:srgbClr val="1E2344"/>
                </a:solidFill>
                <a:latin typeface="Calibri" pitchFamily="34" charset="0"/>
                <a:ea typeface="Calibri" pitchFamily="34" charset="-122"/>
                <a:cs typeface="Calibri" pitchFamily="34" charset="-120"/>
              </a:rPr>
              <a:t>Mann-Whitney U Test (Numeric Variables)</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63440" y="1188720"/>
          <a:ext cx="4114800" cy="3657600"/>
        </p:xfrm>
        <a:graphic>
          <a:graphicData uri="http://schemas.openxmlformats.org/drawingml/2006/table">
            <a:tbl>
              <a:tblPr/>
              <a:tblGrid>
                <a:gridCol w="2560320"/>
                <a:gridCol w="155448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F20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F2044"/>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Tenure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Days Since Last Order</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Cashback Amount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Warehouse to Home Distance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SIGNIFICANT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Satisfaction Score</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SIGNIFICANT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Order Count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SIGNIFICANT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Number of Addresses</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indent="0" marL="0">
                        <a:buNone/>
                      </a:pPr>
                      <a:r>
                        <a:rPr lang="en-US" sz="1100" dirty="0">
                          <a:solidFill>
                            <a:srgbClr val="1E2344"/>
                          </a:solidFill>
                          <a:latin typeface="Calibri" pitchFamily="34" charset="0"/>
                          <a:ea typeface="Calibri" pitchFamily="34" charset="-122"/>
                          <a:cs typeface="Calibri" pitchFamily="34" charset="-120"/>
                        </a:rPr>
                        <a:t>SIGNIFICANT</a:t>
                      </a:r>
                      <a:endParaRPr lang="en-US" sz="1100" dirty="0">
                        <a:latin typeface="Calibri" charset="0"/>
                        <a:ea typeface="Calibri" charset="0"/>
                        <a:cs typeface="Calibri"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r>
            </a:tbl>
          </a:graphicData>
        </a:graphic>
      </p:graphicFrame>
      <p:sp>
        <p:nvSpPr>
          <p:cNvPr id="8" name="Text 4"/>
          <p:cNvSpPr/>
          <p:nvPr/>
        </p:nvSpPr>
        <p:spPr>
          <a:xfrm>
            <a:off x="365760" y="4663440"/>
            <a:ext cx="841248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All 7 categorical variables significant (p &lt; 0.05). 3 numeric variables (HourSpendOnApp, Coupon Used, Order Hike) were NOT significant.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Model Results — Top Churn Drivers by Odds Ratio</a:t>
            </a:r>
            <a:endParaRPr lang="en-US" sz="2200" dirty="0"/>
          </a:p>
        </p:txBody>
      </p:sp>
      <p:sp>
        <p:nvSpPr>
          <p:cNvPr id="4" name="Shape 2"/>
          <p:cNvSpPr/>
          <p:nvPr/>
        </p:nvSpPr>
        <p:spPr>
          <a:xfrm>
            <a:off x="320040" y="777240"/>
            <a:ext cx="2560320" cy="1005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5" name="Text 3"/>
          <p:cNvSpPr/>
          <p:nvPr/>
        </p:nvSpPr>
        <p:spPr>
          <a:xfrm>
            <a:off x="320040" y="941832"/>
            <a:ext cx="2560320" cy="553212"/>
          </a:xfrm>
          <a:prstGeom prst="rect">
            <a:avLst/>
          </a:prstGeom>
          <a:noFill/>
          <a:ln/>
        </p:spPr>
        <p:txBody>
          <a:bodyPr wrap="square" lIns="0" tIns="0" rIns="0" bIns="0" rtlCol="0" anchor="ctr"/>
          <a:lstStyle/>
          <a:p>
            <a:pPr algn="ctr" indent="0" marL="0">
              <a:buNone/>
            </a:pPr>
            <a:r>
              <a:rPr lang="en-US" sz="4000" b="1" dirty="0">
                <a:solidFill>
                  <a:srgbClr val="F5A623"/>
                </a:solidFill>
                <a:latin typeface="Calibri" pitchFamily="34" charset="0"/>
                <a:ea typeface="Calibri" pitchFamily="34" charset="-122"/>
                <a:cs typeface="Calibri" pitchFamily="34" charset="-120"/>
              </a:rPr>
              <a:t>73%</a:t>
            </a:r>
            <a:endParaRPr lang="en-US" sz="4000" dirty="0"/>
          </a:p>
        </p:txBody>
      </p:sp>
      <p:sp>
        <p:nvSpPr>
          <p:cNvPr id="6" name="Text 4"/>
          <p:cNvSpPr/>
          <p:nvPr/>
        </p:nvSpPr>
        <p:spPr>
          <a:xfrm>
            <a:off x="320040" y="1380744"/>
            <a:ext cx="2560320" cy="382219"/>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7" name="Shape 5"/>
          <p:cNvSpPr/>
          <p:nvPr/>
        </p:nvSpPr>
        <p:spPr>
          <a:xfrm>
            <a:off x="3154680" y="777240"/>
            <a:ext cx="2560320" cy="1005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8" name="Text 6"/>
          <p:cNvSpPr/>
          <p:nvPr/>
        </p:nvSpPr>
        <p:spPr>
          <a:xfrm>
            <a:off x="3154680" y="941832"/>
            <a:ext cx="2560320" cy="553212"/>
          </a:xfrm>
          <a:prstGeom prst="rect">
            <a:avLst/>
          </a:prstGeom>
          <a:noFill/>
          <a:ln/>
        </p:spPr>
        <p:txBody>
          <a:bodyPr wrap="square" lIns="0" tIns="0" rIns="0" bIns="0" rtlCol="0" anchor="ctr"/>
          <a:lstStyle/>
          <a:p>
            <a:pPr algn="ctr" indent="0" marL="0">
              <a:buNone/>
            </a:pPr>
            <a:r>
              <a:rPr lang="en-US" sz="4000" b="1" dirty="0">
                <a:solidFill>
                  <a:srgbClr val="F5A623"/>
                </a:solidFill>
                <a:latin typeface="Calibri" pitchFamily="34" charset="0"/>
                <a:ea typeface="Calibri" pitchFamily="34" charset="-122"/>
                <a:cs typeface="Calibri" pitchFamily="34" charset="-120"/>
              </a:rPr>
              <a:t>0.83</a:t>
            </a:r>
            <a:endParaRPr lang="en-US" sz="4000" dirty="0"/>
          </a:p>
        </p:txBody>
      </p:sp>
      <p:sp>
        <p:nvSpPr>
          <p:cNvPr id="9" name="Text 7"/>
          <p:cNvSpPr/>
          <p:nvPr/>
        </p:nvSpPr>
        <p:spPr>
          <a:xfrm>
            <a:off x="3154680" y="1380744"/>
            <a:ext cx="2560320" cy="382219"/>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ROC-AUC</a:t>
            </a:r>
            <a:endParaRPr lang="en-US" sz="1200" dirty="0"/>
          </a:p>
        </p:txBody>
      </p:sp>
      <p:sp>
        <p:nvSpPr>
          <p:cNvPr id="10" name="Shape 8"/>
          <p:cNvSpPr/>
          <p:nvPr/>
        </p:nvSpPr>
        <p:spPr>
          <a:xfrm>
            <a:off x="5989320" y="777240"/>
            <a:ext cx="2560320" cy="100584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11" name="Text 9"/>
          <p:cNvSpPr/>
          <p:nvPr/>
        </p:nvSpPr>
        <p:spPr>
          <a:xfrm>
            <a:off x="5989320" y="941832"/>
            <a:ext cx="2560320" cy="553212"/>
          </a:xfrm>
          <a:prstGeom prst="rect">
            <a:avLst/>
          </a:prstGeom>
          <a:noFill/>
          <a:ln/>
        </p:spPr>
        <p:txBody>
          <a:bodyPr wrap="square" lIns="0" tIns="0" rIns="0" bIns="0" rtlCol="0" anchor="ctr"/>
          <a:lstStyle/>
          <a:p>
            <a:pPr algn="ctr" indent="0" marL="0">
              <a:buNone/>
            </a:pPr>
            <a:r>
              <a:rPr lang="en-US" sz="4000" b="1" dirty="0">
                <a:solidFill>
                  <a:srgbClr val="F5A623"/>
                </a:solidFill>
                <a:latin typeface="Calibri" pitchFamily="34" charset="0"/>
                <a:ea typeface="Calibri" pitchFamily="34" charset="-122"/>
                <a:cs typeface="Calibri" pitchFamily="34" charset="-120"/>
              </a:rPr>
              <a:t>78%</a:t>
            </a:r>
            <a:endParaRPr lang="en-US" sz="4000" dirty="0"/>
          </a:p>
        </p:txBody>
      </p:sp>
      <p:sp>
        <p:nvSpPr>
          <p:cNvPr id="12" name="Text 10"/>
          <p:cNvSpPr/>
          <p:nvPr/>
        </p:nvSpPr>
        <p:spPr>
          <a:xfrm>
            <a:off x="5989320" y="1380744"/>
            <a:ext cx="2560320" cy="382219"/>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Churner Recall</a:t>
            </a:r>
            <a:endParaRPr lang="en-US" sz="1200" dirty="0"/>
          </a:p>
        </p:txBody>
      </p:sp>
      <p:graphicFrame>
        <p:nvGraphicFramePr>
          <p:cNvPr id="13" name="Chart 0" descr=""/>
          <p:cNvGraphicFramePr/>
          <p:nvPr/>
        </p:nvGraphicFramePr>
        <p:xfrm>
          <a:off x="365760" y="1965960"/>
          <a:ext cx="8412480" cy="28346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365760" y="4754880"/>
            <a:ext cx="84124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Red = increases churn risk  |  Teal = protects against churn  |  1.0 = no effect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Customer Segmentation — 3 Distinct Risk Profiles (K-Means)</a:t>
            </a:r>
            <a:endParaRPr lang="en-US" sz="2200" dirty="0"/>
          </a:p>
        </p:txBody>
      </p:sp>
      <p:sp>
        <p:nvSpPr>
          <p:cNvPr id="4" name="Shape 2"/>
          <p:cNvSpPr/>
          <p:nvPr/>
        </p:nvSpPr>
        <p:spPr>
          <a:xfrm>
            <a:off x="320040" y="777240"/>
            <a:ext cx="2743200" cy="4160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2743200" cy="91440"/>
          </a:xfrm>
          <a:prstGeom prst="rect">
            <a:avLst/>
          </a:prstGeom>
          <a:solidFill>
            <a:srgbClr val="E84855"/>
          </a:solidFill>
          <a:ln/>
        </p:spPr>
      </p:sp>
      <p:sp>
        <p:nvSpPr>
          <p:cNvPr id="6" name="Text 4"/>
          <p:cNvSpPr/>
          <p:nvPr/>
        </p:nvSpPr>
        <p:spPr>
          <a:xfrm>
            <a:off x="320040" y="914400"/>
            <a:ext cx="2743200" cy="365760"/>
          </a:xfrm>
          <a:prstGeom prst="rect">
            <a:avLst/>
          </a:prstGeom>
          <a:noFill/>
          <a:ln/>
        </p:spPr>
        <p:txBody>
          <a:bodyPr wrap="square" lIns="0" tIns="0" rIns="0" bIns="0" rtlCol="0" anchor="ctr"/>
          <a:lstStyle/>
          <a:p>
            <a:pPr algn="ctr" indent="0" marL="0">
              <a:buNone/>
            </a:pPr>
            <a:r>
              <a:rPr lang="en-US" sz="1600" b="1" dirty="0">
                <a:solidFill>
                  <a:srgbClr val="E84855"/>
                </a:solidFill>
                <a:latin typeface="Calibri" pitchFamily="34" charset="0"/>
                <a:ea typeface="Calibri" pitchFamily="34" charset="-122"/>
                <a:cs typeface="Calibri" pitchFamily="34" charset="-120"/>
              </a:rPr>
              <a:t>Cluster 0</a:t>
            </a:r>
            <a:endParaRPr lang="en-US" sz="1600" dirty="0"/>
          </a:p>
        </p:txBody>
      </p:sp>
      <p:sp>
        <p:nvSpPr>
          <p:cNvPr id="7" name="Text 5"/>
          <p:cNvSpPr/>
          <p:nvPr/>
        </p:nvSpPr>
        <p:spPr>
          <a:xfrm>
            <a:off x="320040" y="1280160"/>
            <a:ext cx="274320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HIGH RISK — The Churn Engine</a:t>
            </a:r>
            <a:endParaRPr lang="en-US" sz="1000" dirty="0"/>
          </a:p>
        </p:txBody>
      </p:sp>
      <p:sp>
        <p:nvSpPr>
          <p:cNvPr id="8" name="Shape 6"/>
          <p:cNvSpPr/>
          <p:nvPr/>
        </p:nvSpPr>
        <p:spPr>
          <a:xfrm>
            <a:off x="365760" y="1700784"/>
            <a:ext cx="2651760" cy="384048"/>
          </a:xfrm>
          <a:prstGeom prst="rect">
            <a:avLst/>
          </a:prstGeom>
          <a:solidFill>
            <a:srgbClr val="F4F6FB"/>
          </a:solidFill>
          <a:ln/>
        </p:spPr>
      </p:sp>
      <p:sp>
        <p:nvSpPr>
          <p:cNvPr id="9" name="Text 7"/>
          <p:cNvSpPr/>
          <p:nvPr/>
        </p:nvSpPr>
        <p:spPr>
          <a:xfrm>
            <a:off x="457200" y="173736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Customers</a:t>
            </a:r>
            <a:endParaRPr lang="en-US" sz="1100" dirty="0"/>
          </a:p>
        </p:txBody>
      </p:sp>
      <p:sp>
        <p:nvSpPr>
          <p:cNvPr id="10" name="Text 8"/>
          <p:cNvSpPr/>
          <p:nvPr/>
        </p:nvSpPr>
        <p:spPr>
          <a:xfrm>
            <a:off x="1645920" y="173736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1,335 (24% of base)</a:t>
            </a:r>
            <a:endParaRPr lang="en-US" sz="1100" dirty="0"/>
          </a:p>
        </p:txBody>
      </p:sp>
      <p:sp>
        <p:nvSpPr>
          <p:cNvPr id="11" name="Text 9"/>
          <p:cNvSpPr/>
          <p:nvPr/>
        </p:nvSpPr>
        <p:spPr>
          <a:xfrm>
            <a:off x="457200" y="2121408"/>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Churn Rate</a:t>
            </a:r>
            <a:endParaRPr lang="en-US" sz="1100" dirty="0"/>
          </a:p>
        </p:txBody>
      </p:sp>
      <p:sp>
        <p:nvSpPr>
          <p:cNvPr id="12" name="Text 10"/>
          <p:cNvSpPr/>
          <p:nvPr/>
        </p:nvSpPr>
        <p:spPr>
          <a:xfrm>
            <a:off x="1645920" y="2121408"/>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36%</a:t>
            </a:r>
            <a:endParaRPr lang="en-US" sz="1100" dirty="0"/>
          </a:p>
        </p:txBody>
      </p:sp>
      <p:sp>
        <p:nvSpPr>
          <p:cNvPr id="13" name="Shape 11"/>
          <p:cNvSpPr/>
          <p:nvPr/>
        </p:nvSpPr>
        <p:spPr>
          <a:xfrm>
            <a:off x="365760" y="2468880"/>
            <a:ext cx="2651760" cy="384048"/>
          </a:xfrm>
          <a:prstGeom prst="rect">
            <a:avLst/>
          </a:prstGeom>
          <a:solidFill>
            <a:srgbClr val="F4F6FB"/>
          </a:solidFill>
          <a:ln/>
        </p:spPr>
      </p:sp>
      <p:sp>
        <p:nvSpPr>
          <p:cNvPr id="14" name="Text 12"/>
          <p:cNvSpPr/>
          <p:nvPr/>
        </p:nvSpPr>
        <p:spPr>
          <a:xfrm>
            <a:off x="457200" y="2505456"/>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Tenure</a:t>
            </a:r>
            <a:endParaRPr lang="en-US" sz="1100" dirty="0"/>
          </a:p>
        </p:txBody>
      </p:sp>
      <p:sp>
        <p:nvSpPr>
          <p:cNvPr id="15" name="Text 13"/>
          <p:cNvSpPr/>
          <p:nvPr/>
        </p:nvSpPr>
        <p:spPr>
          <a:xfrm>
            <a:off x="1645920" y="2505456"/>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7.9 months</a:t>
            </a:r>
            <a:endParaRPr lang="en-US" sz="1100" dirty="0"/>
          </a:p>
        </p:txBody>
      </p:sp>
      <p:sp>
        <p:nvSpPr>
          <p:cNvPr id="16" name="Text 14"/>
          <p:cNvSpPr/>
          <p:nvPr/>
        </p:nvSpPr>
        <p:spPr>
          <a:xfrm>
            <a:off x="457200" y="2889504"/>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Complaint Rate</a:t>
            </a:r>
            <a:endParaRPr lang="en-US" sz="1100" dirty="0"/>
          </a:p>
        </p:txBody>
      </p:sp>
      <p:sp>
        <p:nvSpPr>
          <p:cNvPr id="17" name="Text 15"/>
          <p:cNvSpPr/>
          <p:nvPr/>
        </p:nvSpPr>
        <p:spPr>
          <a:xfrm>
            <a:off x="1645920" y="2889504"/>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100%</a:t>
            </a:r>
            <a:endParaRPr lang="en-US" sz="1100" dirty="0"/>
          </a:p>
        </p:txBody>
      </p:sp>
      <p:sp>
        <p:nvSpPr>
          <p:cNvPr id="18" name="Shape 16"/>
          <p:cNvSpPr/>
          <p:nvPr/>
        </p:nvSpPr>
        <p:spPr>
          <a:xfrm>
            <a:off x="365760" y="3236976"/>
            <a:ext cx="2651760" cy="384048"/>
          </a:xfrm>
          <a:prstGeom prst="rect">
            <a:avLst/>
          </a:prstGeom>
          <a:solidFill>
            <a:srgbClr val="F4F6FB"/>
          </a:solidFill>
          <a:ln/>
        </p:spPr>
      </p:sp>
      <p:sp>
        <p:nvSpPr>
          <p:cNvPr id="19" name="Text 17"/>
          <p:cNvSpPr/>
          <p:nvPr/>
        </p:nvSpPr>
        <p:spPr>
          <a:xfrm>
            <a:off x="457200" y="3273552"/>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Satisfaction</a:t>
            </a:r>
            <a:endParaRPr lang="en-US" sz="1100" dirty="0"/>
          </a:p>
        </p:txBody>
      </p:sp>
      <p:sp>
        <p:nvSpPr>
          <p:cNvPr id="20" name="Text 18"/>
          <p:cNvSpPr/>
          <p:nvPr/>
        </p:nvSpPr>
        <p:spPr>
          <a:xfrm>
            <a:off x="1645920" y="3273552"/>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2.97 / 5</a:t>
            </a:r>
            <a:endParaRPr lang="en-US" sz="1100" dirty="0"/>
          </a:p>
        </p:txBody>
      </p:sp>
      <p:sp>
        <p:nvSpPr>
          <p:cNvPr id="21" name="Text 19"/>
          <p:cNvSpPr/>
          <p:nvPr/>
        </p:nvSpPr>
        <p:spPr>
          <a:xfrm>
            <a:off x="457200" y="365760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Orders</a:t>
            </a:r>
            <a:endParaRPr lang="en-US" sz="1100" dirty="0"/>
          </a:p>
        </p:txBody>
      </p:sp>
      <p:sp>
        <p:nvSpPr>
          <p:cNvPr id="22" name="Text 20"/>
          <p:cNvSpPr/>
          <p:nvPr/>
        </p:nvSpPr>
        <p:spPr>
          <a:xfrm>
            <a:off x="1645920" y="365760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2.3</a:t>
            </a:r>
            <a:endParaRPr lang="en-US" sz="1100" dirty="0"/>
          </a:p>
        </p:txBody>
      </p:sp>
      <p:sp>
        <p:nvSpPr>
          <p:cNvPr id="23" name="Text 21"/>
          <p:cNvSpPr/>
          <p:nvPr/>
        </p:nvSpPr>
        <p:spPr>
          <a:xfrm>
            <a:off x="411480" y="4069080"/>
            <a:ext cx="2560320" cy="685800"/>
          </a:xfrm>
          <a:prstGeom prst="rect">
            <a:avLst/>
          </a:prstGeom>
          <a:noFill/>
          <a:ln/>
        </p:spPr>
        <p:txBody>
          <a:bodyPr wrap="square" lIns="0" tIns="0" rIns="0" bIns="0"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Primary retention target. Every signal points to early lifecycle failure.</a:t>
            </a:r>
            <a:endParaRPr lang="en-US" sz="1000" dirty="0"/>
          </a:p>
        </p:txBody>
      </p:sp>
      <p:sp>
        <p:nvSpPr>
          <p:cNvPr id="24" name="Shape 22"/>
          <p:cNvSpPr/>
          <p:nvPr/>
        </p:nvSpPr>
        <p:spPr>
          <a:xfrm>
            <a:off x="3227832" y="777240"/>
            <a:ext cx="2743200" cy="4160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3227832" y="777240"/>
            <a:ext cx="2743200" cy="91440"/>
          </a:xfrm>
          <a:prstGeom prst="rect">
            <a:avLst/>
          </a:prstGeom>
          <a:solidFill>
            <a:srgbClr val="1EB0A0"/>
          </a:solidFill>
          <a:ln/>
        </p:spPr>
      </p:sp>
      <p:sp>
        <p:nvSpPr>
          <p:cNvPr id="26" name="Text 24"/>
          <p:cNvSpPr/>
          <p:nvPr/>
        </p:nvSpPr>
        <p:spPr>
          <a:xfrm>
            <a:off x="3227832" y="914400"/>
            <a:ext cx="2743200" cy="365760"/>
          </a:xfrm>
          <a:prstGeom prst="rect">
            <a:avLst/>
          </a:prstGeom>
          <a:noFill/>
          <a:ln/>
        </p:spPr>
        <p:txBody>
          <a:bodyPr wrap="square" lIns="0" tIns="0" rIns="0" bIns="0" rtlCol="0" anchor="ctr"/>
          <a:lstStyle/>
          <a:p>
            <a:pPr algn="ctr" indent="0" marL="0">
              <a:buNone/>
            </a:pPr>
            <a:r>
              <a:rPr lang="en-US" sz="1600" b="1" dirty="0">
                <a:solidFill>
                  <a:srgbClr val="1EB0A0"/>
                </a:solidFill>
                <a:latin typeface="Calibri" pitchFamily="34" charset="0"/>
                <a:ea typeface="Calibri" pitchFamily="34" charset="-122"/>
                <a:cs typeface="Calibri" pitchFamily="34" charset="-120"/>
              </a:rPr>
              <a:t>Cluster 1</a:t>
            </a:r>
            <a:endParaRPr lang="en-US" sz="1600" dirty="0"/>
          </a:p>
        </p:txBody>
      </p:sp>
      <p:sp>
        <p:nvSpPr>
          <p:cNvPr id="27" name="Text 25"/>
          <p:cNvSpPr/>
          <p:nvPr/>
        </p:nvSpPr>
        <p:spPr>
          <a:xfrm>
            <a:off x="3227832" y="1280160"/>
            <a:ext cx="274320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LOYAL — The Healthy Base</a:t>
            </a:r>
            <a:endParaRPr lang="en-US" sz="1000" dirty="0"/>
          </a:p>
        </p:txBody>
      </p:sp>
      <p:sp>
        <p:nvSpPr>
          <p:cNvPr id="28" name="Shape 26"/>
          <p:cNvSpPr/>
          <p:nvPr/>
        </p:nvSpPr>
        <p:spPr>
          <a:xfrm>
            <a:off x="3273552" y="1700784"/>
            <a:ext cx="2651760" cy="384048"/>
          </a:xfrm>
          <a:prstGeom prst="rect">
            <a:avLst/>
          </a:prstGeom>
          <a:solidFill>
            <a:srgbClr val="F4F6FB"/>
          </a:solidFill>
          <a:ln/>
        </p:spPr>
      </p:sp>
      <p:sp>
        <p:nvSpPr>
          <p:cNvPr id="29" name="Text 27"/>
          <p:cNvSpPr/>
          <p:nvPr/>
        </p:nvSpPr>
        <p:spPr>
          <a:xfrm>
            <a:off x="3364992" y="173736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Customers</a:t>
            </a:r>
            <a:endParaRPr lang="en-US" sz="1100" dirty="0"/>
          </a:p>
        </p:txBody>
      </p:sp>
      <p:sp>
        <p:nvSpPr>
          <p:cNvPr id="30" name="Text 28"/>
          <p:cNvSpPr/>
          <p:nvPr/>
        </p:nvSpPr>
        <p:spPr>
          <a:xfrm>
            <a:off x="4553712" y="173736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1,313</a:t>
            </a:r>
            <a:endParaRPr lang="en-US" sz="1100" dirty="0"/>
          </a:p>
        </p:txBody>
      </p:sp>
      <p:sp>
        <p:nvSpPr>
          <p:cNvPr id="31" name="Text 29"/>
          <p:cNvSpPr/>
          <p:nvPr/>
        </p:nvSpPr>
        <p:spPr>
          <a:xfrm>
            <a:off x="3364992" y="2121408"/>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Churn Rate</a:t>
            </a:r>
            <a:endParaRPr lang="en-US" sz="1100" dirty="0"/>
          </a:p>
        </p:txBody>
      </p:sp>
      <p:sp>
        <p:nvSpPr>
          <p:cNvPr id="32" name="Text 30"/>
          <p:cNvSpPr/>
          <p:nvPr/>
        </p:nvSpPr>
        <p:spPr>
          <a:xfrm>
            <a:off x="4553712" y="2121408"/>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8%</a:t>
            </a:r>
            <a:endParaRPr lang="en-US" sz="1100" dirty="0"/>
          </a:p>
        </p:txBody>
      </p:sp>
      <p:sp>
        <p:nvSpPr>
          <p:cNvPr id="33" name="Shape 31"/>
          <p:cNvSpPr/>
          <p:nvPr/>
        </p:nvSpPr>
        <p:spPr>
          <a:xfrm>
            <a:off x="3273552" y="2468880"/>
            <a:ext cx="2651760" cy="384048"/>
          </a:xfrm>
          <a:prstGeom prst="rect">
            <a:avLst/>
          </a:prstGeom>
          <a:solidFill>
            <a:srgbClr val="F4F6FB"/>
          </a:solidFill>
          <a:ln/>
        </p:spPr>
      </p:sp>
      <p:sp>
        <p:nvSpPr>
          <p:cNvPr id="34" name="Text 32"/>
          <p:cNvSpPr/>
          <p:nvPr/>
        </p:nvSpPr>
        <p:spPr>
          <a:xfrm>
            <a:off x="3364992" y="2505456"/>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Tenure</a:t>
            </a:r>
            <a:endParaRPr lang="en-US" sz="1100" dirty="0"/>
          </a:p>
        </p:txBody>
      </p:sp>
      <p:sp>
        <p:nvSpPr>
          <p:cNvPr id="35" name="Text 33"/>
          <p:cNvSpPr/>
          <p:nvPr/>
        </p:nvSpPr>
        <p:spPr>
          <a:xfrm>
            <a:off x="4553712" y="2505456"/>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17.3 months</a:t>
            </a:r>
            <a:endParaRPr lang="en-US" sz="1100" dirty="0"/>
          </a:p>
        </p:txBody>
      </p:sp>
      <p:sp>
        <p:nvSpPr>
          <p:cNvPr id="36" name="Text 34"/>
          <p:cNvSpPr/>
          <p:nvPr/>
        </p:nvSpPr>
        <p:spPr>
          <a:xfrm>
            <a:off x="3364992" y="2889504"/>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Complaint Rate</a:t>
            </a:r>
            <a:endParaRPr lang="en-US" sz="1100" dirty="0"/>
          </a:p>
        </p:txBody>
      </p:sp>
      <p:sp>
        <p:nvSpPr>
          <p:cNvPr id="37" name="Text 35"/>
          <p:cNvSpPr/>
          <p:nvPr/>
        </p:nvSpPr>
        <p:spPr>
          <a:xfrm>
            <a:off x="4553712" y="2889504"/>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20%</a:t>
            </a:r>
            <a:endParaRPr lang="en-US" sz="1100" dirty="0"/>
          </a:p>
        </p:txBody>
      </p:sp>
      <p:sp>
        <p:nvSpPr>
          <p:cNvPr id="38" name="Shape 36"/>
          <p:cNvSpPr/>
          <p:nvPr/>
        </p:nvSpPr>
        <p:spPr>
          <a:xfrm>
            <a:off x="3273552" y="3236976"/>
            <a:ext cx="2651760" cy="384048"/>
          </a:xfrm>
          <a:prstGeom prst="rect">
            <a:avLst/>
          </a:prstGeom>
          <a:solidFill>
            <a:srgbClr val="F4F6FB"/>
          </a:solidFill>
          <a:ln/>
        </p:spPr>
      </p:sp>
      <p:sp>
        <p:nvSpPr>
          <p:cNvPr id="39" name="Text 37"/>
          <p:cNvSpPr/>
          <p:nvPr/>
        </p:nvSpPr>
        <p:spPr>
          <a:xfrm>
            <a:off x="3364992" y="3273552"/>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Satisfaction</a:t>
            </a:r>
            <a:endParaRPr lang="en-US" sz="1100" dirty="0"/>
          </a:p>
        </p:txBody>
      </p:sp>
      <p:sp>
        <p:nvSpPr>
          <p:cNvPr id="40" name="Text 38"/>
          <p:cNvSpPr/>
          <p:nvPr/>
        </p:nvSpPr>
        <p:spPr>
          <a:xfrm>
            <a:off x="4553712" y="3273552"/>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3.12 / 5</a:t>
            </a:r>
            <a:endParaRPr lang="en-US" sz="1100" dirty="0"/>
          </a:p>
        </p:txBody>
      </p:sp>
      <p:sp>
        <p:nvSpPr>
          <p:cNvPr id="41" name="Text 39"/>
          <p:cNvSpPr/>
          <p:nvPr/>
        </p:nvSpPr>
        <p:spPr>
          <a:xfrm>
            <a:off x="3364992" y="365760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Orders</a:t>
            </a:r>
            <a:endParaRPr lang="en-US" sz="1100" dirty="0"/>
          </a:p>
        </p:txBody>
      </p:sp>
      <p:sp>
        <p:nvSpPr>
          <p:cNvPr id="42" name="Text 40"/>
          <p:cNvSpPr/>
          <p:nvPr/>
        </p:nvSpPr>
        <p:spPr>
          <a:xfrm>
            <a:off x="4553712" y="365760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6.3</a:t>
            </a:r>
            <a:endParaRPr lang="en-US" sz="1100" dirty="0"/>
          </a:p>
        </p:txBody>
      </p:sp>
      <p:sp>
        <p:nvSpPr>
          <p:cNvPr id="43" name="Text 41"/>
          <p:cNvSpPr/>
          <p:nvPr/>
        </p:nvSpPr>
        <p:spPr>
          <a:xfrm>
            <a:off x="3319272" y="4069080"/>
            <a:ext cx="2560320" cy="685800"/>
          </a:xfrm>
          <a:prstGeom prst="rect">
            <a:avLst/>
          </a:prstGeom>
          <a:noFill/>
          <a:ln/>
        </p:spPr>
        <p:txBody>
          <a:bodyPr wrap="square" lIns="0" tIns="0" rIns="0" bIns="0"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Long-tenure, high-engagement, high-value customers. Protect and upsell.</a:t>
            </a:r>
            <a:endParaRPr lang="en-US" sz="1000" dirty="0"/>
          </a:p>
        </p:txBody>
      </p:sp>
      <p:sp>
        <p:nvSpPr>
          <p:cNvPr id="44" name="Shape 42"/>
          <p:cNvSpPr/>
          <p:nvPr/>
        </p:nvSpPr>
        <p:spPr>
          <a:xfrm>
            <a:off x="6135624" y="777240"/>
            <a:ext cx="2743200" cy="4160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5" name="Shape 43"/>
          <p:cNvSpPr/>
          <p:nvPr/>
        </p:nvSpPr>
        <p:spPr>
          <a:xfrm>
            <a:off x="6135624" y="777240"/>
            <a:ext cx="2743200" cy="91440"/>
          </a:xfrm>
          <a:prstGeom prst="rect">
            <a:avLst/>
          </a:prstGeom>
          <a:solidFill>
            <a:srgbClr val="F5A623"/>
          </a:solidFill>
          <a:ln/>
        </p:spPr>
      </p:sp>
      <p:sp>
        <p:nvSpPr>
          <p:cNvPr id="46" name="Text 44"/>
          <p:cNvSpPr/>
          <p:nvPr/>
        </p:nvSpPr>
        <p:spPr>
          <a:xfrm>
            <a:off x="6135624" y="914400"/>
            <a:ext cx="2743200" cy="365760"/>
          </a:xfrm>
          <a:prstGeom prst="rect">
            <a:avLst/>
          </a:prstGeom>
          <a:noFill/>
          <a:ln/>
        </p:spPr>
        <p:txBody>
          <a:bodyPr wrap="square" lIns="0" tIns="0" rIns="0" bIns="0" rtlCol="0" anchor="ctr"/>
          <a:lstStyle/>
          <a:p>
            <a:pPr algn="ctr" indent="0" marL="0">
              <a:buNone/>
            </a:pPr>
            <a:r>
              <a:rPr lang="en-US" sz="1600" b="1" dirty="0">
                <a:solidFill>
                  <a:srgbClr val="F5A623"/>
                </a:solidFill>
                <a:latin typeface="Calibri" pitchFamily="34" charset="0"/>
                <a:ea typeface="Calibri" pitchFamily="34" charset="-122"/>
                <a:cs typeface="Calibri" pitchFamily="34" charset="-120"/>
              </a:rPr>
              <a:t>Cluster 2</a:t>
            </a:r>
            <a:endParaRPr lang="en-US" sz="1600" dirty="0"/>
          </a:p>
        </p:txBody>
      </p:sp>
      <p:sp>
        <p:nvSpPr>
          <p:cNvPr id="47" name="Text 45"/>
          <p:cNvSpPr/>
          <p:nvPr/>
        </p:nvSpPr>
        <p:spPr>
          <a:xfrm>
            <a:off x="6135624" y="1280160"/>
            <a:ext cx="274320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STABLE MIDDLE — Largest Group</a:t>
            </a:r>
            <a:endParaRPr lang="en-US" sz="1000" dirty="0"/>
          </a:p>
        </p:txBody>
      </p:sp>
      <p:sp>
        <p:nvSpPr>
          <p:cNvPr id="48" name="Shape 46"/>
          <p:cNvSpPr/>
          <p:nvPr/>
        </p:nvSpPr>
        <p:spPr>
          <a:xfrm>
            <a:off x="6181344" y="1700784"/>
            <a:ext cx="2651760" cy="384048"/>
          </a:xfrm>
          <a:prstGeom prst="rect">
            <a:avLst/>
          </a:prstGeom>
          <a:solidFill>
            <a:srgbClr val="F4F6FB"/>
          </a:solidFill>
          <a:ln/>
        </p:spPr>
      </p:sp>
      <p:sp>
        <p:nvSpPr>
          <p:cNvPr id="49" name="Text 47"/>
          <p:cNvSpPr/>
          <p:nvPr/>
        </p:nvSpPr>
        <p:spPr>
          <a:xfrm>
            <a:off x="6272784" y="173736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Customers</a:t>
            </a:r>
            <a:endParaRPr lang="en-US" sz="1100" dirty="0"/>
          </a:p>
        </p:txBody>
      </p:sp>
      <p:sp>
        <p:nvSpPr>
          <p:cNvPr id="50" name="Text 48"/>
          <p:cNvSpPr/>
          <p:nvPr/>
        </p:nvSpPr>
        <p:spPr>
          <a:xfrm>
            <a:off x="7461504" y="173736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2,982 (53% of base)</a:t>
            </a:r>
            <a:endParaRPr lang="en-US" sz="1100" dirty="0"/>
          </a:p>
        </p:txBody>
      </p:sp>
      <p:sp>
        <p:nvSpPr>
          <p:cNvPr id="51" name="Text 49"/>
          <p:cNvSpPr/>
          <p:nvPr/>
        </p:nvSpPr>
        <p:spPr>
          <a:xfrm>
            <a:off x="6272784" y="2121408"/>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Churn Rate</a:t>
            </a:r>
            <a:endParaRPr lang="en-US" sz="1100" dirty="0"/>
          </a:p>
        </p:txBody>
      </p:sp>
      <p:sp>
        <p:nvSpPr>
          <p:cNvPr id="52" name="Text 50"/>
          <p:cNvSpPr/>
          <p:nvPr/>
        </p:nvSpPr>
        <p:spPr>
          <a:xfrm>
            <a:off x="7461504" y="2121408"/>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12%</a:t>
            </a:r>
            <a:endParaRPr lang="en-US" sz="1100" dirty="0"/>
          </a:p>
        </p:txBody>
      </p:sp>
      <p:sp>
        <p:nvSpPr>
          <p:cNvPr id="53" name="Shape 51"/>
          <p:cNvSpPr/>
          <p:nvPr/>
        </p:nvSpPr>
        <p:spPr>
          <a:xfrm>
            <a:off x="6181344" y="2468880"/>
            <a:ext cx="2651760" cy="384048"/>
          </a:xfrm>
          <a:prstGeom prst="rect">
            <a:avLst/>
          </a:prstGeom>
          <a:solidFill>
            <a:srgbClr val="F4F6FB"/>
          </a:solidFill>
          <a:ln/>
        </p:spPr>
      </p:sp>
      <p:sp>
        <p:nvSpPr>
          <p:cNvPr id="54" name="Text 52"/>
          <p:cNvSpPr/>
          <p:nvPr/>
        </p:nvSpPr>
        <p:spPr>
          <a:xfrm>
            <a:off x="6272784" y="2505456"/>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Tenure</a:t>
            </a:r>
            <a:endParaRPr lang="en-US" sz="1100" dirty="0"/>
          </a:p>
        </p:txBody>
      </p:sp>
      <p:sp>
        <p:nvSpPr>
          <p:cNvPr id="55" name="Text 53"/>
          <p:cNvSpPr/>
          <p:nvPr/>
        </p:nvSpPr>
        <p:spPr>
          <a:xfrm>
            <a:off x="7461504" y="2505456"/>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7.6 months</a:t>
            </a:r>
            <a:endParaRPr lang="en-US" sz="1100" dirty="0"/>
          </a:p>
        </p:txBody>
      </p:sp>
      <p:sp>
        <p:nvSpPr>
          <p:cNvPr id="56" name="Text 54"/>
          <p:cNvSpPr/>
          <p:nvPr/>
        </p:nvSpPr>
        <p:spPr>
          <a:xfrm>
            <a:off x="6272784" y="2889504"/>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Complaint Rate</a:t>
            </a:r>
            <a:endParaRPr lang="en-US" sz="1100" dirty="0"/>
          </a:p>
        </p:txBody>
      </p:sp>
      <p:sp>
        <p:nvSpPr>
          <p:cNvPr id="57" name="Text 55"/>
          <p:cNvSpPr/>
          <p:nvPr/>
        </p:nvSpPr>
        <p:spPr>
          <a:xfrm>
            <a:off x="7461504" y="2889504"/>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0%</a:t>
            </a:r>
            <a:endParaRPr lang="en-US" sz="1100" dirty="0"/>
          </a:p>
        </p:txBody>
      </p:sp>
      <p:sp>
        <p:nvSpPr>
          <p:cNvPr id="58" name="Shape 56"/>
          <p:cNvSpPr/>
          <p:nvPr/>
        </p:nvSpPr>
        <p:spPr>
          <a:xfrm>
            <a:off x="6181344" y="3236976"/>
            <a:ext cx="2651760" cy="384048"/>
          </a:xfrm>
          <a:prstGeom prst="rect">
            <a:avLst/>
          </a:prstGeom>
          <a:solidFill>
            <a:srgbClr val="F4F6FB"/>
          </a:solidFill>
          <a:ln/>
        </p:spPr>
      </p:sp>
      <p:sp>
        <p:nvSpPr>
          <p:cNvPr id="59" name="Text 57"/>
          <p:cNvSpPr/>
          <p:nvPr/>
        </p:nvSpPr>
        <p:spPr>
          <a:xfrm>
            <a:off x="6272784" y="3273552"/>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Satisfaction</a:t>
            </a:r>
            <a:endParaRPr lang="en-US" sz="1100" dirty="0"/>
          </a:p>
        </p:txBody>
      </p:sp>
      <p:sp>
        <p:nvSpPr>
          <p:cNvPr id="60" name="Text 58"/>
          <p:cNvSpPr/>
          <p:nvPr/>
        </p:nvSpPr>
        <p:spPr>
          <a:xfrm>
            <a:off x="7461504" y="3273552"/>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3.08 / 5</a:t>
            </a:r>
            <a:endParaRPr lang="en-US" sz="1100" dirty="0"/>
          </a:p>
        </p:txBody>
      </p:sp>
      <p:sp>
        <p:nvSpPr>
          <p:cNvPr id="61" name="Text 59"/>
          <p:cNvSpPr/>
          <p:nvPr/>
        </p:nvSpPr>
        <p:spPr>
          <a:xfrm>
            <a:off x="6272784" y="3657600"/>
            <a:ext cx="1188720" cy="329184"/>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Avg Orders</a:t>
            </a:r>
            <a:endParaRPr lang="en-US" sz="1100" dirty="0"/>
          </a:p>
        </p:txBody>
      </p:sp>
      <p:sp>
        <p:nvSpPr>
          <p:cNvPr id="62" name="Text 60"/>
          <p:cNvSpPr/>
          <p:nvPr/>
        </p:nvSpPr>
        <p:spPr>
          <a:xfrm>
            <a:off x="7461504" y="3657600"/>
            <a:ext cx="1325880" cy="329184"/>
          </a:xfrm>
          <a:prstGeom prst="rect">
            <a:avLst/>
          </a:prstGeom>
          <a:noFill/>
          <a:ln/>
        </p:spPr>
        <p:txBody>
          <a:bodyPr wrap="square" lIns="0" tIns="0" rIns="0" bIns="0" rtlCol="0" anchor="ctr"/>
          <a:lstStyle/>
          <a:p>
            <a:pPr algn="r" indent="0" marL="0">
              <a:buNone/>
            </a:pPr>
            <a:r>
              <a:rPr lang="en-US" sz="1100" b="1" dirty="0">
                <a:solidFill>
                  <a:srgbClr val="1E2344"/>
                </a:solidFill>
                <a:latin typeface="Calibri" pitchFamily="34" charset="0"/>
                <a:ea typeface="Calibri" pitchFamily="34" charset="-122"/>
                <a:cs typeface="Calibri" pitchFamily="34" charset="-120"/>
              </a:rPr>
              <a:t>2.0</a:t>
            </a:r>
            <a:endParaRPr lang="en-US" sz="1100" dirty="0"/>
          </a:p>
        </p:txBody>
      </p:sp>
      <p:sp>
        <p:nvSpPr>
          <p:cNvPr id="63" name="Text 61"/>
          <p:cNvSpPr/>
          <p:nvPr/>
        </p:nvSpPr>
        <p:spPr>
          <a:xfrm>
            <a:off x="6227064" y="4069080"/>
            <a:ext cx="2560320" cy="685800"/>
          </a:xfrm>
          <a:prstGeom prst="rect">
            <a:avLst/>
          </a:prstGeom>
          <a:noFill/>
          <a:ln/>
        </p:spPr>
        <p:txBody>
          <a:bodyPr wrap="square" lIns="0" tIns="0" rIns="0" bIns="0"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Low complaint rate, stable behavior. Nurture to move toward Cluster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4855"/>
          </a:solidFill>
          <a:ln/>
        </p:spPr>
      </p:sp>
      <p:sp>
        <p:nvSpPr>
          <p:cNvPr id="3" name="Text 1"/>
          <p:cNvSpPr/>
          <p:nvPr/>
        </p:nvSpPr>
        <p:spPr>
          <a:xfrm>
            <a:off x="457200" y="457200"/>
            <a:ext cx="8229600" cy="502920"/>
          </a:xfrm>
          <a:prstGeom prst="rect">
            <a:avLst/>
          </a:prstGeom>
          <a:noFill/>
          <a:ln/>
        </p:spPr>
        <p:txBody>
          <a:bodyPr wrap="square" lIns="0" tIns="0" rIns="0" bIns="0" rtlCol="0" anchor="ctr"/>
          <a:lstStyle/>
          <a:p>
            <a:pPr algn="l" indent="0" marL="0">
              <a:buNone/>
            </a:pPr>
            <a:r>
              <a:rPr lang="en-US" sz="1400" dirty="0">
                <a:solidFill>
                  <a:srgbClr val="9EAEC8"/>
                </a:solidFill>
                <a:latin typeface="Calibri" pitchFamily="34" charset="0"/>
                <a:ea typeface="Calibri" pitchFamily="34" charset="-122"/>
                <a:cs typeface="Calibri" pitchFamily="34" charset="-120"/>
              </a:rPr>
              <a:t>Root Cause Statement</a:t>
            </a:r>
            <a:endParaRPr lang="en-US" sz="1400" dirty="0"/>
          </a:p>
        </p:txBody>
      </p:sp>
      <p:sp>
        <p:nvSpPr>
          <p:cNvPr id="4" name="Shape 2"/>
          <p:cNvSpPr/>
          <p:nvPr/>
        </p:nvSpPr>
        <p:spPr>
          <a:xfrm>
            <a:off x="457200" y="1051560"/>
            <a:ext cx="8229600" cy="146304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5" name="Text 3"/>
          <p:cNvSpPr/>
          <p:nvPr/>
        </p:nvSpPr>
        <p:spPr>
          <a:xfrm>
            <a:off x="640080" y="1097280"/>
            <a:ext cx="7863840" cy="1371600"/>
          </a:xfrm>
          <a:prstGeom prst="rect">
            <a:avLst/>
          </a:prstGeom>
          <a:noFill/>
          <a:ln/>
        </p:spPr>
        <p:txBody>
          <a:bodyPr wrap="square" lIns="0" tIns="0" rIns="0" bIns="0" rtlCol="0" anchor="ctr"/>
          <a:lstStyle/>
          <a:p>
            <a:pPr algn="l" indent="0" marL="0">
              <a:buNone/>
            </a:pPr>
            <a:r>
              <a:rPr lang="en-US" sz="1600" i="1" dirty="0">
                <a:solidFill>
                  <a:srgbClr val="FFFFFF"/>
                </a:solidFill>
                <a:latin typeface="Calibri" pitchFamily="34" charset="0"/>
                <a:ea typeface="Calibri" pitchFamily="34" charset="-122"/>
                <a:cs typeface="Calibri" pitchFamily="34" charset="-120"/>
              </a:rPr>
              <a:t>"Weak early customer experience drives churn. Customers who do not build habit, do not place repeat orders, and face unresolved complaints in their first 30–60 days are much more likely to churn. Tenure protects against churn, which means the business must win retention early."</a:t>
            </a:r>
            <a:endParaRPr lang="en-US" sz="1600" dirty="0"/>
          </a:p>
        </p:txBody>
      </p:sp>
      <p:sp>
        <p:nvSpPr>
          <p:cNvPr id="6" name="Shape 4"/>
          <p:cNvSpPr/>
          <p:nvPr/>
        </p:nvSpPr>
        <p:spPr>
          <a:xfrm>
            <a:off x="365760" y="2743200"/>
            <a:ext cx="2651760" cy="210312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2743200"/>
            <a:ext cx="2651760" cy="91440"/>
          </a:xfrm>
          <a:prstGeom prst="rect">
            <a:avLst/>
          </a:prstGeom>
          <a:solidFill>
            <a:srgbClr val="E84855"/>
          </a:solidFill>
          <a:ln/>
        </p:spPr>
      </p:sp>
      <p:sp>
        <p:nvSpPr>
          <p:cNvPr id="8" name="Text 6"/>
          <p:cNvSpPr/>
          <p:nvPr/>
        </p:nvSpPr>
        <p:spPr>
          <a:xfrm>
            <a:off x="365760" y="2880360"/>
            <a:ext cx="2651760" cy="411480"/>
          </a:xfrm>
          <a:prstGeom prst="rect">
            <a:avLst/>
          </a:prstGeom>
          <a:noFill/>
          <a:ln/>
        </p:spPr>
        <p:txBody>
          <a:bodyPr wrap="square" lIns="0" tIns="0" rIns="0" bIns="0"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Evidence 1: EDA</a:t>
            </a:r>
            <a:endParaRPr lang="en-US" sz="1300" dirty="0"/>
          </a:p>
        </p:txBody>
      </p:sp>
      <p:sp>
        <p:nvSpPr>
          <p:cNvPr id="9" name="Text 7"/>
          <p:cNvSpPr/>
          <p:nvPr/>
        </p:nvSpPr>
        <p:spPr>
          <a:xfrm>
            <a:off x="502920" y="3337560"/>
            <a:ext cx="2377440" cy="137160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26% churn in first 6 months. Only 0.5% churn after 24 months.</a:t>
            </a:r>
            <a:endParaRPr lang="en-US" sz="1200" dirty="0"/>
          </a:p>
        </p:txBody>
      </p:sp>
      <p:sp>
        <p:nvSpPr>
          <p:cNvPr id="10" name="Shape 8"/>
          <p:cNvSpPr/>
          <p:nvPr/>
        </p:nvSpPr>
        <p:spPr>
          <a:xfrm>
            <a:off x="3246120" y="2743200"/>
            <a:ext cx="2651760" cy="210312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1" name="Shape 9"/>
          <p:cNvSpPr/>
          <p:nvPr/>
        </p:nvSpPr>
        <p:spPr>
          <a:xfrm>
            <a:off x="3246120" y="2743200"/>
            <a:ext cx="2651760" cy="91440"/>
          </a:xfrm>
          <a:prstGeom prst="rect">
            <a:avLst/>
          </a:prstGeom>
          <a:solidFill>
            <a:srgbClr val="E84855"/>
          </a:solidFill>
          <a:ln/>
        </p:spPr>
      </p:sp>
      <p:sp>
        <p:nvSpPr>
          <p:cNvPr id="12" name="Text 10"/>
          <p:cNvSpPr/>
          <p:nvPr/>
        </p:nvSpPr>
        <p:spPr>
          <a:xfrm>
            <a:off x="3246120" y="2880360"/>
            <a:ext cx="2651760" cy="411480"/>
          </a:xfrm>
          <a:prstGeom prst="rect">
            <a:avLst/>
          </a:prstGeom>
          <a:noFill/>
          <a:ln/>
        </p:spPr>
        <p:txBody>
          <a:bodyPr wrap="square" lIns="0" tIns="0" rIns="0" bIns="0"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Evidence 2: Model</a:t>
            </a:r>
            <a:endParaRPr lang="en-US" sz="1300" dirty="0"/>
          </a:p>
        </p:txBody>
      </p:sp>
      <p:sp>
        <p:nvSpPr>
          <p:cNvPr id="13" name="Text 11"/>
          <p:cNvSpPr/>
          <p:nvPr/>
        </p:nvSpPr>
        <p:spPr>
          <a:xfrm>
            <a:off x="3383280" y="3337560"/>
            <a:ext cx="2377440" cy="137160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Tenure: strongest protection (0.25× odds). Complaints: strongest risk (1.97× odds).</a:t>
            </a:r>
            <a:endParaRPr lang="en-US" sz="1200" dirty="0"/>
          </a:p>
        </p:txBody>
      </p:sp>
      <p:sp>
        <p:nvSpPr>
          <p:cNvPr id="14" name="Shape 12"/>
          <p:cNvSpPr/>
          <p:nvPr/>
        </p:nvSpPr>
        <p:spPr>
          <a:xfrm>
            <a:off x="6126480" y="2743200"/>
            <a:ext cx="2651760" cy="210312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5" name="Shape 13"/>
          <p:cNvSpPr/>
          <p:nvPr/>
        </p:nvSpPr>
        <p:spPr>
          <a:xfrm>
            <a:off x="6126480" y="2743200"/>
            <a:ext cx="2651760" cy="91440"/>
          </a:xfrm>
          <a:prstGeom prst="rect">
            <a:avLst/>
          </a:prstGeom>
          <a:solidFill>
            <a:srgbClr val="E84855"/>
          </a:solidFill>
          <a:ln/>
        </p:spPr>
      </p:sp>
      <p:sp>
        <p:nvSpPr>
          <p:cNvPr id="16" name="Text 14"/>
          <p:cNvSpPr/>
          <p:nvPr/>
        </p:nvSpPr>
        <p:spPr>
          <a:xfrm>
            <a:off x="6126480" y="2880360"/>
            <a:ext cx="2651760" cy="411480"/>
          </a:xfrm>
          <a:prstGeom prst="rect">
            <a:avLst/>
          </a:prstGeom>
          <a:noFill/>
          <a:ln/>
        </p:spPr>
        <p:txBody>
          <a:bodyPr wrap="square" lIns="0" tIns="0" rIns="0" bIns="0"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Evidence 3: Clustering</a:t>
            </a:r>
            <a:endParaRPr lang="en-US" sz="1300" dirty="0"/>
          </a:p>
        </p:txBody>
      </p:sp>
      <p:sp>
        <p:nvSpPr>
          <p:cNvPr id="17" name="Text 15"/>
          <p:cNvSpPr/>
          <p:nvPr/>
        </p:nvSpPr>
        <p:spPr>
          <a:xfrm>
            <a:off x="6263640" y="3337560"/>
            <a:ext cx="2377440" cy="137160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Cluster 0 — 36% churn — has lowest tenure, lowest satisfaction, 100% complaint rate.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44"/>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Recommended Action — 30-Day Onboarding &amp; Recovery Program</a:t>
            </a:r>
            <a:endParaRPr lang="en-US" sz="2200" dirty="0"/>
          </a:p>
        </p:txBody>
      </p:sp>
      <p:sp>
        <p:nvSpPr>
          <p:cNvPr id="4" name="Shape 2"/>
          <p:cNvSpPr/>
          <p:nvPr/>
        </p:nvSpPr>
        <p:spPr>
          <a:xfrm>
            <a:off x="365760" y="777240"/>
            <a:ext cx="2926080" cy="1965960"/>
          </a:xfrm>
          <a:prstGeom prst="rect">
            <a:avLst/>
          </a:prstGeom>
          <a:solidFill>
            <a:srgbClr val="0F2044"/>
          </a:solidFill>
          <a:ln/>
          <a:effectLst>
            <a:outerShdw sx="100000" sy="100000" kx="0" ky="0" algn="bl" rotWithShape="0" blurRad="101600" dist="38100" dir="8100000">
              <a:srgbClr val="000000">
                <a:alpha val="12000"/>
              </a:srgbClr>
            </a:outerShdw>
          </a:effectLst>
        </p:spPr>
      </p:sp>
      <p:sp>
        <p:nvSpPr>
          <p:cNvPr id="5" name="Text 3"/>
          <p:cNvSpPr/>
          <p:nvPr/>
        </p:nvSpPr>
        <p:spPr>
          <a:xfrm>
            <a:off x="365760" y="868680"/>
            <a:ext cx="2926080" cy="36576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TARGET SEGMENT</a:t>
            </a:r>
            <a:endParaRPr lang="en-US" sz="1200" dirty="0"/>
          </a:p>
        </p:txBody>
      </p:sp>
      <p:sp>
        <p:nvSpPr>
          <p:cNvPr id="6" name="Text 4"/>
          <p:cNvSpPr/>
          <p:nvPr/>
        </p:nvSpPr>
        <p:spPr>
          <a:xfrm>
            <a:off x="548640" y="1325880"/>
            <a:ext cx="256032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New customers (low tenure)</a:t>
            </a:r>
            <a:endParaRPr lang="en-US" sz="1200" dirty="0"/>
          </a:p>
        </p:txBody>
      </p:sp>
      <p:sp>
        <p:nvSpPr>
          <p:cNvPr id="7" name="Text 5"/>
          <p:cNvSpPr/>
          <p:nvPr/>
        </p:nvSpPr>
        <p:spPr>
          <a:xfrm>
            <a:off x="548640" y="1691640"/>
            <a:ext cx="256032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Low satisfaction score</a:t>
            </a:r>
            <a:endParaRPr lang="en-US" sz="1200" dirty="0"/>
          </a:p>
        </p:txBody>
      </p:sp>
      <p:sp>
        <p:nvSpPr>
          <p:cNvPr id="8" name="Text 6"/>
          <p:cNvSpPr/>
          <p:nvPr/>
        </p:nvSpPr>
        <p:spPr>
          <a:xfrm>
            <a:off x="548640" y="2057400"/>
            <a:ext cx="256032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Filed a complaint</a:t>
            </a:r>
            <a:endParaRPr lang="en-US" sz="1200" dirty="0"/>
          </a:p>
        </p:txBody>
      </p:sp>
      <p:sp>
        <p:nvSpPr>
          <p:cNvPr id="9" name="Shape 7"/>
          <p:cNvSpPr/>
          <p:nvPr/>
        </p:nvSpPr>
        <p:spPr>
          <a:xfrm>
            <a:off x="3520440" y="777240"/>
            <a:ext cx="260604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3520440" y="777240"/>
            <a:ext cx="502920" cy="914400"/>
          </a:xfrm>
          <a:prstGeom prst="rect">
            <a:avLst/>
          </a:prstGeom>
          <a:solidFill>
            <a:srgbClr val="E84855"/>
          </a:solidFill>
          <a:ln/>
        </p:spPr>
      </p:sp>
      <p:sp>
        <p:nvSpPr>
          <p:cNvPr id="11" name="Text 9"/>
          <p:cNvSpPr/>
          <p:nvPr/>
        </p:nvSpPr>
        <p:spPr>
          <a:xfrm>
            <a:off x="3520440" y="1005840"/>
            <a:ext cx="502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2" name="Text 10"/>
          <p:cNvSpPr/>
          <p:nvPr/>
        </p:nvSpPr>
        <p:spPr>
          <a:xfrm>
            <a:off x="4114800" y="822960"/>
            <a:ext cx="1920240" cy="365760"/>
          </a:xfrm>
          <a:prstGeom prst="rect">
            <a:avLst/>
          </a:prstGeom>
          <a:noFill/>
          <a:ln/>
        </p:spPr>
        <p:txBody>
          <a:bodyPr wrap="square" lIns="0" tIns="0" rIns="0" bIns="0" rtlCol="0" anchor="ctr"/>
          <a:lstStyle/>
          <a:p>
            <a:pPr algn="l" indent="0" marL="0">
              <a:buNone/>
            </a:pPr>
            <a:r>
              <a:rPr lang="en-US" sz="1200" b="1" dirty="0">
                <a:solidFill>
                  <a:srgbClr val="1E2344"/>
                </a:solidFill>
                <a:latin typeface="Calibri" pitchFamily="34" charset="0"/>
                <a:ea typeface="Calibri" pitchFamily="34" charset="-122"/>
                <a:cs typeface="Calibri" pitchFamily="34" charset="-120"/>
              </a:rPr>
              <a:t>Trigger at Signup</a:t>
            </a:r>
            <a:endParaRPr lang="en-US" sz="1200" dirty="0"/>
          </a:p>
        </p:txBody>
      </p:sp>
      <p:sp>
        <p:nvSpPr>
          <p:cNvPr id="13" name="Text 11"/>
          <p:cNvSpPr/>
          <p:nvPr/>
        </p:nvSpPr>
        <p:spPr>
          <a:xfrm>
            <a:off x="4114800" y="1188720"/>
            <a:ext cx="1920240" cy="45720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Flag customers with low tenure + low satisfaction score immediately.</a:t>
            </a:r>
            <a:endParaRPr lang="en-US" sz="1000" dirty="0"/>
          </a:p>
        </p:txBody>
      </p:sp>
      <p:sp>
        <p:nvSpPr>
          <p:cNvPr id="14" name="Shape 12"/>
          <p:cNvSpPr/>
          <p:nvPr/>
        </p:nvSpPr>
        <p:spPr>
          <a:xfrm>
            <a:off x="6309360" y="777240"/>
            <a:ext cx="260604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6309360" y="777240"/>
            <a:ext cx="502920" cy="914400"/>
          </a:xfrm>
          <a:prstGeom prst="rect">
            <a:avLst/>
          </a:prstGeom>
          <a:solidFill>
            <a:srgbClr val="E84855"/>
          </a:solidFill>
          <a:ln/>
        </p:spPr>
      </p:sp>
      <p:sp>
        <p:nvSpPr>
          <p:cNvPr id="16" name="Text 14"/>
          <p:cNvSpPr/>
          <p:nvPr/>
        </p:nvSpPr>
        <p:spPr>
          <a:xfrm>
            <a:off x="6309360" y="1005840"/>
            <a:ext cx="502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7" name="Text 15"/>
          <p:cNvSpPr/>
          <p:nvPr/>
        </p:nvSpPr>
        <p:spPr>
          <a:xfrm>
            <a:off x="6903720" y="822960"/>
            <a:ext cx="1920240" cy="365760"/>
          </a:xfrm>
          <a:prstGeom prst="rect">
            <a:avLst/>
          </a:prstGeom>
          <a:noFill/>
          <a:ln/>
        </p:spPr>
        <p:txBody>
          <a:bodyPr wrap="square" lIns="0" tIns="0" rIns="0" bIns="0" rtlCol="0" anchor="ctr"/>
          <a:lstStyle/>
          <a:p>
            <a:pPr algn="l" indent="0" marL="0">
              <a:buNone/>
            </a:pPr>
            <a:r>
              <a:rPr lang="en-US" sz="1200" b="1" dirty="0">
                <a:solidFill>
                  <a:srgbClr val="1E2344"/>
                </a:solidFill>
                <a:latin typeface="Calibri" pitchFamily="34" charset="0"/>
                <a:ea typeface="Calibri" pitchFamily="34" charset="-122"/>
                <a:cs typeface="Calibri" pitchFamily="34" charset="-120"/>
              </a:rPr>
              <a:t>Fast Complaint Escalation</a:t>
            </a:r>
            <a:endParaRPr lang="en-US" sz="1200" dirty="0"/>
          </a:p>
        </p:txBody>
      </p:sp>
      <p:sp>
        <p:nvSpPr>
          <p:cNvPr id="18" name="Text 16"/>
          <p:cNvSpPr/>
          <p:nvPr/>
        </p:nvSpPr>
        <p:spPr>
          <a:xfrm>
            <a:off x="6903720" y="1188720"/>
            <a:ext cx="1920240" cy="45720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Resolve complaints within 24 hours. No exception for new customers.</a:t>
            </a:r>
            <a:endParaRPr lang="en-US" sz="1000" dirty="0"/>
          </a:p>
        </p:txBody>
      </p:sp>
      <p:sp>
        <p:nvSpPr>
          <p:cNvPr id="19" name="Shape 17"/>
          <p:cNvSpPr/>
          <p:nvPr/>
        </p:nvSpPr>
        <p:spPr>
          <a:xfrm>
            <a:off x="3520440" y="1828800"/>
            <a:ext cx="260604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3520440" y="1828800"/>
            <a:ext cx="502920" cy="914400"/>
          </a:xfrm>
          <a:prstGeom prst="rect">
            <a:avLst/>
          </a:prstGeom>
          <a:solidFill>
            <a:srgbClr val="E84855"/>
          </a:solidFill>
          <a:ln/>
        </p:spPr>
      </p:sp>
      <p:sp>
        <p:nvSpPr>
          <p:cNvPr id="21" name="Text 19"/>
          <p:cNvSpPr/>
          <p:nvPr/>
        </p:nvSpPr>
        <p:spPr>
          <a:xfrm>
            <a:off x="3520440" y="2057400"/>
            <a:ext cx="502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4114800" y="1874520"/>
            <a:ext cx="1920240" cy="365760"/>
          </a:xfrm>
          <a:prstGeom prst="rect">
            <a:avLst/>
          </a:prstGeom>
          <a:noFill/>
          <a:ln/>
        </p:spPr>
        <p:txBody>
          <a:bodyPr wrap="square" lIns="0" tIns="0" rIns="0" bIns="0" rtlCol="0" anchor="ctr"/>
          <a:lstStyle/>
          <a:p>
            <a:pPr algn="l" indent="0" marL="0">
              <a:buNone/>
            </a:pPr>
            <a:r>
              <a:rPr lang="en-US" sz="1200" b="1" dirty="0">
                <a:solidFill>
                  <a:srgbClr val="1E2344"/>
                </a:solidFill>
                <a:latin typeface="Calibri" pitchFamily="34" charset="0"/>
                <a:ea typeface="Calibri" pitchFamily="34" charset="-122"/>
                <a:cs typeface="Calibri" pitchFamily="34" charset="-120"/>
              </a:rPr>
              <a:t>Proactive Check-ins</a:t>
            </a:r>
            <a:endParaRPr lang="en-US" sz="1200" dirty="0"/>
          </a:p>
        </p:txBody>
      </p:sp>
      <p:sp>
        <p:nvSpPr>
          <p:cNvPr id="23" name="Text 21"/>
          <p:cNvSpPr/>
          <p:nvPr/>
        </p:nvSpPr>
        <p:spPr>
          <a:xfrm>
            <a:off x="4114800" y="2240280"/>
            <a:ext cx="1920240" cy="45720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Send support check-in messages at Day 7 and Day 14.</a:t>
            </a:r>
            <a:endParaRPr lang="en-US" sz="1000" dirty="0"/>
          </a:p>
        </p:txBody>
      </p:sp>
      <p:sp>
        <p:nvSpPr>
          <p:cNvPr id="24" name="Shape 22"/>
          <p:cNvSpPr/>
          <p:nvPr/>
        </p:nvSpPr>
        <p:spPr>
          <a:xfrm>
            <a:off x="6309360" y="1828800"/>
            <a:ext cx="260604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6309360" y="1828800"/>
            <a:ext cx="502920" cy="914400"/>
          </a:xfrm>
          <a:prstGeom prst="rect">
            <a:avLst/>
          </a:prstGeom>
          <a:solidFill>
            <a:srgbClr val="E84855"/>
          </a:solidFill>
          <a:ln/>
        </p:spPr>
      </p:sp>
      <p:sp>
        <p:nvSpPr>
          <p:cNvPr id="26" name="Text 24"/>
          <p:cNvSpPr/>
          <p:nvPr/>
        </p:nvSpPr>
        <p:spPr>
          <a:xfrm>
            <a:off x="6309360" y="2057400"/>
            <a:ext cx="502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7" name="Text 25"/>
          <p:cNvSpPr/>
          <p:nvPr/>
        </p:nvSpPr>
        <p:spPr>
          <a:xfrm>
            <a:off x="6903720" y="1874520"/>
            <a:ext cx="1920240" cy="365760"/>
          </a:xfrm>
          <a:prstGeom prst="rect">
            <a:avLst/>
          </a:prstGeom>
          <a:noFill/>
          <a:ln/>
        </p:spPr>
        <p:txBody>
          <a:bodyPr wrap="square" lIns="0" tIns="0" rIns="0" bIns="0" rtlCol="0" anchor="ctr"/>
          <a:lstStyle/>
          <a:p>
            <a:pPr algn="l" indent="0" marL="0">
              <a:buNone/>
            </a:pPr>
            <a:r>
              <a:rPr lang="en-US" sz="1200" b="1" dirty="0">
                <a:solidFill>
                  <a:srgbClr val="1E2344"/>
                </a:solidFill>
                <a:latin typeface="Calibri" pitchFamily="34" charset="0"/>
                <a:ea typeface="Calibri" pitchFamily="34" charset="-122"/>
                <a:cs typeface="Calibri" pitchFamily="34" charset="-120"/>
              </a:rPr>
              <a:t>Day-30 Incentive</a:t>
            </a:r>
            <a:endParaRPr lang="en-US" sz="1200" dirty="0"/>
          </a:p>
        </p:txBody>
      </p:sp>
      <p:sp>
        <p:nvSpPr>
          <p:cNvPr id="28" name="Text 26"/>
          <p:cNvSpPr/>
          <p:nvPr/>
        </p:nvSpPr>
        <p:spPr>
          <a:xfrm>
            <a:off x="6903720" y="2240280"/>
            <a:ext cx="1920240" cy="45720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Offer a discount or cashback before the first long inactivity gap.</a:t>
            </a:r>
            <a:endParaRPr lang="en-US" sz="1000" dirty="0"/>
          </a:p>
        </p:txBody>
      </p:sp>
      <p:sp>
        <p:nvSpPr>
          <p:cNvPr id="29" name="Text 27"/>
          <p:cNvSpPr/>
          <p:nvPr/>
        </p:nvSpPr>
        <p:spPr>
          <a:xfrm>
            <a:off x="365760" y="2926080"/>
            <a:ext cx="8412480" cy="365760"/>
          </a:xfrm>
          <a:prstGeom prst="rect">
            <a:avLst/>
          </a:prstGeom>
          <a:noFill/>
          <a:ln/>
        </p:spPr>
        <p:txBody>
          <a:bodyPr wrap="square" lIns="0" tIns="0" rIns="0" bIns="0" rtlCol="0" anchor="ctr"/>
          <a:lstStyle/>
          <a:p>
            <a:pPr indent="0" marL="0">
              <a:buNone/>
            </a:pPr>
            <a:r>
              <a:rPr lang="en-US" sz="1400" b="1" dirty="0">
                <a:solidFill>
                  <a:srgbClr val="1E2344"/>
                </a:solidFill>
                <a:latin typeface="Calibri" pitchFamily="34" charset="0"/>
                <a:ea typeface="Calibri" pitchFamily="34" charset="-122"/>
                <a:cs typeface="Calibri" pitchFamily="34" charset="-120"/>
              </a:rPr>
              <a:t>Success Metrics to Track</a:t>
            </a:r>
            <a:endParaRPr lang="en-US" sz="1400" dirty="0"/>
          </a:p>
        </p:txBody>
      </p:sp>
      <p:sp>
        <p:nvSpPr>
          <p:cNvPr id="30" name="Shape 28"/>
          <p:cNvSpPr/>
          <p:nvPr/>
        </p:nvSpPr>
        <p:spPr>
          <a:xfrm>
            <a:off x="365760" y="3383280"/>
            <a:ext cx="4114800" cy="4754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1" name="Shape 29"/>
          <p:cNvSpPr/>
          <p:nvPr/>
        </p:nvSpPr>
        <p:spPr>
          <a:xfrm>
            <a:off x="365760" y="3383280"/>
            <a:ext cx="73152" cy="475488"/>
          </a:xfrm>
          <a:prstGeom prst="rect">
            <a:avLst/>
          </a:prstGeom>
          <a:solidFill>
            <a:srgbClr val="1EB0A0"/>
          </a:solidFill>
          <a:ln/>
        </p:spPr>
      </p:sp>
      <p:sp>
        <p:nvSpPr>
          <p:cNvPr id="32" name="Text 30"/>
          <p:cNvSpPr/>
          <p:nvPr/>
        </p:nvSpPr>
        <p:spPr>
          <a:xfrm>
            <a:off x="548640" y="3419856"/>
            <a:ext cx="3840480" cy="402336"/>
          </a:xfrm>
          <a:prstGeom prst="rect">
            <a:avLst/>
          </a:prstGeom>
          <a:noFill/>
          <a:ln/>
        </p:spPr>
        <p:txBody>
          <a:bodyPr wrap="square" lIns="0" tIns="0" rIns="0" bIns="0" rtlCol="0" anchor="ctr"/>
          <a:lstStyle/>
          <a:p>
            <a:pPr algn="l" indent="0" marL="0">
              <a:buNone/>
            </a:pPr>
            <a:r>
              <a:rPr lang="en-US" sz="1100" dirty="0">
                <a:solidFill>
                  <a:srgbClr val="1E2344"/>
                </a:solidFill>
                <a:latin typeface="Calibri" pitchFamily="34" charset="0"/>
                <a:ea typeface="Calibri" pitchFamily="34" charset="-122"/>
                <a:cs typeface="Calibri" pitchFamily="34" charset="-120"/>
              </a:rPr>
              <a:t>Cluster 0 churn rate (target: below 25%, from 36%)</a:t>
            </a:r>
            <a:endParaRPr lang="en-US" sz="1100" dirty="0"/>
          </a:p>
        </p:txBody>
      </p:sp>
      <p:sp>
        <p:nvSpPr>
          <p:cNvPr id="33" name="Shape 31"/>
          <p:cNvSpPr/>
          <p:nvPr/>
        </p:nvSpPr>
        <p:spPr>
          <a:xfrm>
            <a:off x="4800600" y="3383280"/>
            <a:ext cx="4114800" cy="4754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4800600" y="3383280"/>
            <a:ext cx="73152" cy="475488"/>
          </a:xfrm>
          <a:prstGeom prst="rect">
            <a:avLst/>
          </a:prstGeom>
          <a:solidFill>
            <a:srgbClr val="1EB0A0"/>
          </a:solidFill>
          <a:ln/>
        </p:spPr>
      </p:sp>
      <p:sp>
        <p:nvSpPr>
          <p:cNvPr id="35" name="Text 33"/>
          <p:cNvSpPr/>
          <p:nvPr/>
        </p:nvSpPr>
        <p:spPr>
          <a:xfrm>
            <a:off x="4983480" y="3419856"/>
            <a:ext cx="3840480" cy="402336"/>
          </a:xfrm>
          <a:prstGeom prst="rect">
            <a:avLst/>
          </a:prstGeom>
          <a:noFill/>
          <a:ln/>
        </p:spPr>
        <p:txBody>
          <a:bodyPr wrap="square" lIns="0" tIns="0" rIns="0" bIns="0" rtlCol="0" anchor="ctr"/>
          <a:lstStyle/>
          <a:p>
            <a:pPr algn="l" indent="0" marL="0">
              <a:buNone/>
            </a:pPr>
            <a:r>
              <a:rPr lang="en-US" sz="1100" dirty="0">
                <a:solidFill>
                  <a:srgbClr val="1E2344"/>
                </a:solidFill>
                <a:latin typeface="Calibri" pitchFamily="34" charset="0"/>
                <a:ea typeface="Calibri" pitchFamily="34" charset="-122"/>
                <a:cs typeface="Calibri" pitchFamily="34" charset="-120"/>
              </a:rPr>
              <a:t>Complaint resolution time (target: under 24 hours)</a:t>
            </a:r>
            <a:endParaRPr lang="en-US" sz="1100" dirty="0"/>
          </a:p>
        </p:txBody>
      </p:sp>
      <p:sp>
        <p:nvSpPr>
          <p:cNvPr id="36" name="Shape 34"/>
          <p:cNvSpPr/>
          <p:nvPr/>
        </p:nvSpPr>
        <p:spPr>
          <a:xfrm>
            <a:off x="365760" y="3977640"/>
            <a:ext cx="4114800" cy="4754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5"/>
          <p:cNvSpPr/>
          <p:nvPr/>
        </p:nvSpPr>
        <p:spPr>
          <a:xfrm>
            <a:off x="365760" y="3977640"/>
            <a:ext cx="73152" cy="475488"/>
          </a:xfrm>
          <a:prstGeom prst="rect">
            <a:avLst/>
          </a:prstGeom>
          <a:solidFill>
            <a:srgbClr val="1EB0A0"/>
          </a:solidFill>
          <a:ln/>
        </p:spPr>
      </p:sp>
      <p:sp>
        <p:nvSpPr>
          <p:cNvPr id="38" name="Text 36"/>
          <p:cNvSpPr/>
          <p:nvPr/>
        </p:nvSpPr>
        <p:spPr>
          <a:xfrm>
            <a:off x="548640" y="4014216"/>
            <a:ext cx="3840480" cy="402336"/>
          </a:xfrm>
          <a:prstGeom prst="rect">
            <a:avLst/>
          </a:prstGeom>
          <a:noFill/>
          <a:ln/>
        </p:spPr>
        <p:txBody>
          <a:bodyPr wrap="square" lIns="0" tIns="0" rIns="0" bIns="0" rtlCol="0" anchor="ctr"/>
          <a:lstStyle/>
          <a:p>
            <a:pPr algn="l" indent="0" marL="0">
              <a:buNone/>
            </a:pPr>
            <a:r>
              <a:rPr lang="en-US" sz="1100" dirty="0">
                <a:solidFill>
                  <a:srgbClr val="1E2344"/>
                </a:solidFill>
                <a:latin typeface="Calibri" pitchFamily="34" charset="0"/>
                <a:ea typeface="Calibri" pitchFamily="34" charset="-122"/>
                <a:cs typeface="Calibri" pitchFamily="34" charset="-120"/>
              </a:rPr>
              <a:t>Day-30 repeat order rate for new customers</a:t>
            </a:r>
            <a:endParaRPr lang="en-US" sz="1100" dirty="0"/>
          </a:p>
        </p:txBody>
      </p:sp>
      <p:sp>
        <p:nvSpPr>
          <p:cNvPr id="39" name="Shape 37"/>
          <p:cNvSpPr/>
          <p:nvPr/>
        </p:nvSpPr>
        <p:spPr>
          <a:xfrm>
            <a:off x="4800600" y="3977640"/>
            <a:ext cx="4114800" cy="4754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Shape 38"/>
          <p:cNvSpPr/>
          <p:nvPr/>
        </p:nvSpPr>
        <p:spPr>
          <a:xfrm>
            <a:off x="4800600" y="3977640"/>
            <a:ext cx="73152" cy="475488"/>
          </a:xfrm>
          <a:prstGeom prst="rect">
            <a:avLst/>
          </a:prstGeom>
          <a:solidFill>
            <a:srgbClr val="1EB0A0"/>
          </a:solidFill>
          <a:ln/>
        </p:spPr>
      </p:sp>
      <p:sp>
        <p:nvSpPr>
          <p:cNvPr id="41" name="Text 39"/>
          <p:cNvSpPr/>
          <p:nvPr/>
        </p:nvSpPr>
        <p:spPr>
          <a:xfrm>
            <a:off x="4983480" y="4014216"/>
            <a:ext cx="3840480" cy="402336"/>
          </a:xfrm>
          <a:prstGeom prst="rect">
            <a:avLst/>
          </a:prstGeom>
          <a:noFill/>
          <a:ln/>
        </p:spPr>
        <p:txBody>
          <a:bodyPr wrap="square" lIns="0" tIns="0" rIns="0" bIns="0" rtlCol="0" anchor="ctr"/>
          <a:lstStyle/>
          <a:p>
            <a:pPr algn="l" indent="0" marL="0">
              <a:buNone/>
            </a:pPr>
            <a:r>
              <a:rPr lang="en-US" sz="1100" dirty="0">
                <a:solidFill>
                  <a:srgbClr val="1E2344"/>
                </a:solidFill>
                <a:latin typeface="Calibri" pitchFamily="34" charset="0"/>
                <a:ea typeface="Calibri" pitchFamily="34" charset="-122"/>
                <a:cs typeface="Calibri" pitchFamily="34" charset="-120"/>
              </a:rPr>
              <a:t>Satisfaction score improvement at Day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F5A623"/>
          </a:solidFill>
          <a:ln/>
        </p:spPr>
      </p:sp>
      <p:sp>
        <p:nvSpPr>
          <p:cNvPr id="3" name="Text 1"/>
          <p:cNvSpPr/>
          <p:nvPr/>
        </p:nvSpPr>
        <p:spPr>
          <a:xfrm>
            <a:off x="457200" y="320040"/>
            <a:ext cx="82296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Decision Needed from Leadership</a:t>
            </a:r>
            <a:endParaRPr lang="en-US" sz="2200" dirty="0"/>
          </a:p>
        </p:txBody>
      </p:sp>
      <p:sp>
        <p:nvSpPr>
          <p:cNvPr id="4" name="Shape 2"/>
          <p:cNvSpPr/>
          <p:nvPr/>
        </p:nvSpPr>
        <p:spPr>
          <a:xfrm>
            <a:off x="457200" y="1051560"/>
            <a:ext cx="8229600" cy="10972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5" name="Shape 3"/>
          <p:cNvSpPr/>
          <p:nvPr/>
        </p:nvSpPr>
        <p:spPr>
          <a:xfrm>
            <a:off x="457200" y="1051560"/>
            <a:ext cx="640080" cy="1097280"/>
          </a:xfrm>
          <a:prstGeom prst="rect">
            <a:avLst/>
          </a:prstGeom>
          <a:solidFill>
            <a:srgbClr val="F5A623"/>
          </a:solidFill>
          <a:ln/>
        </p:spPr>
      </p:sp>
      <p:sp>
        <p:nvSpPr>
          <p:cNvPr id="6" name="Text 4"/>
          <p:cNvSpPr/>
          <p:nvPr/>
        </p:nvSpPr>
        <p:spPr>
          <a:xfrm>
            <a:off x="457200" y="1325880"/>
            <a:ext cx="640080" cy="548640"/>
          </a:xfrm>
          <a:prstGeom prst="rect">
            <a:avLst/>
          </a:prstGeom>
          <a:noFill/>
          <a:ln/>
        </p:spPr>
        <p:txBody>
          <a:bodyPr wrap="square" lIns="0" tIns="0" rIns="0" bIns="0" rtlCol="0" anchor="ctr"/>
          <a:lstStyle/>
          <a:p>
            <a:pPr algn="ctr" indent="0" marL="0">
              <a:buNone/>
            </a:pPr>
            <a:r>
              <a:rPr lang="en-US" sz="2800" b="1" dirty="0">
                <a:solidFill>
                  <a:srgbClr val="0F2044"/>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1234440" y="1143000"/>
            <a:ext cx="713232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Complaint Escalation SLA</a:t>
            </a:r>
            <a:endParaRPr lang="en-US" sz="1500" dirty="0"/>
          </a:p>
        </p:txBody>
      </p:sp>
      <p:sp>
        <p:nvSpPr>
          <p:cNvPr id="8" name="Text 6"/>
          <p:cNvSpPr/>
          <p:nvPr/>
        </p:nvSpPr>
        <p:spPr>
          <a:xfrm>
            <a:off x="1234440" y="1581912"/>
            <a:ext cx="7132320" cy="50292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Approve a 24-hour complaint resolution standard specifically for new customers (low tenure + low satisfaction).</a:t>
            </a:r>
            <a:endParaRPr lang="en-US" sz="1200" dirty="0"/>
          </a:p>
        </p:txBody>
      </p:sp>
      <p:sp>
        <p:nvSpPr>
          <p:cNvPr id="9" name="Shape 7"/>
          <p:cNvSpPr/>
          <p:nvPr/>
        </p:nvSpPr>
        <p:spPr>
          <a:xfrm>
            <a:off x="457200" y="2286000"/>
            <a:ext cx="8229600" cy="10972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0" name="Shape 8"/>
          <p:cNvSpPr/>
          <p:nvPr/>
        </p:nvSpPr>
        <p:spPr>
          <a:xfrm>
            <a:off x="457200" y="2286000"/>
            <a:ext cx="640080" cy="1097280"/>
          </a:xfrm>
          <a:prstGeom prst="rect">
            <a:avLst/>
          </a:prstGeom>
          <a:solidFill>
            <a:srgbClr val="F5A623"/>
          </a:solidFill>
          <a:ln/>
        </p:spPr>
      </p:sp>
      <p:sp>
        <p:nvSpPr>
          <p:cNvPr id="11" name="Text 9"/>
          <p:cNvSpPr/>
          <p:nvPr/>
        </p:nvSpPr>
        <p:spPr>
          <a:xfrm>
            <a:off x="457200" y="2560320"/>
            <a:ext cx="640080" cy="548640"/>
          </a:xfrm>
          <a:prstGeom prst="rect">
            <a:avLst/>
          </a:prstGeom>
          <a:noFill/>
          <a:ln/>
        </p:spPr>
        <p:txBody>
          <a:bodyPr wrap="square" lIns="0" tIns="0" rIns="0" bIns="0" rtlCol="0" anchor="ctr"/>
          <a:lstStyle/>
          <a:p>
            <a:pPr algn="ctr" indent="0" marL="0">
              <a:buNone/>
            </a:pPr>
            <a:r>
              <a:rPr lang="en-US" sz="2800" b="1" dirty="0">
                <a:solidFill>
                  <a:srgbClr val="0F2044"/>
                </a:solidFill>
                <a:latin typeface="Calibri" pitchFamily="34" charset="0"/>
                <a:ea typeface="Calibri" pitchFamily="34" charset="-122"/>
                <a:cs typeface="Calibri" pitchFamily="34" charset="-120"/>
              </a:rPr>
              <a:t>2</a:t>
            </a:r>
            <a:endParaRPr lang="en-US" sz="2800" dirty="0"/>
          </a:p>
        </p:txBody>
      </p:sp>
      <p:sp>
        <p:nvSpPr>
          <p:cNvPr id="12" name="Text 10"/>
          <p:cNvSpPr/>
          <p:nvPr/>
        </p:nvSpPr>
        <p:spPr>
          <a:xfrm>
            <a:off x="1234440" y="2377440"/>
            <a:ext cx="713232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Retention Incentive Budget</a:t>
            </a:r>
            <a:endParaRPr lang="en-US" sz="1500" dirty="0"/>
          </a:p>
        </p:txBody>
      </p:sp>
      <p:sp>
        <p:nvSpPr>
          <p:cNvPr id="13" name="Text 11"/>
          <p:cNvSpPr/>
          <p:nvPr/>
        </p:nvSpPr>
        <p:spPr>
          <a:xfrm>
            <a:off x="1234440" y="2816352"/>
            <a:ext cx="7132320" cy="50292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Allocate a Day-30 incentive budget (discount or cashback) for at-risk Cluster 0 customers before inactivity sets in.</a:t>
            </a:r>
            <a:endParaRPr lang="en-US" sz="1200" dirty="0"/>
          </a:p>
        </p:txBody>
      </p:sp>
      <p:sp>
        <p:nvSpPr>
          <p:cNvPr id="14" name="Shape 12"/>
          <p:cNvSpPr/>
          <p:nvPr/>
        </p:nvSpPr>
        <p:spPr>
          <a:xfrm>
            <a:off x="457200" y="3520440"/>
            <a:ext cx="8229600" cy="10972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5" name="Shape 13"/>
          <p:cNvSpPr/>
          <p:nvPr/>
        </p:nvSpPr>
        <p:spPr>
          <a:xfrm>
            <a:off x="457200" y="3520440"/>
            <a:ext cx="640080" cy="1097280"/>
          </a:xfrm>
          <a:prstGeom prst="rect">
            <a:avLst/>
          </a:prstGeom>
          <a:solidFill>
            <a:srgbClr val="F5A623"/>
          </a:solidFill>
          <a:ln/>
        </p:spPr>
      </p:sp>
      <p:sp>
        <p:nvSpPr>
          <p:cNvPr id="16" name="Text 14"/>
          <p:cNvSpPr/>
          <p:nvPr/>
        </p:nvSpPr>
        <p:spPr>
          <a:xfrm>
            <a:off x="457200" y="3794760"/>
            <a:ext cx="640080" cy="548640"/>
          </a:xfrm>
          <a:prstGeom prst="rect">
            <a:avLst/>
          </a:prstGeom>
          <a:noFill/>
          <a:ln/>
        </p:spPr>
        <p:txBody>
          <a:bodyPr wrap="square" lIns="0" tIns="0" rIns="0" bIns="0" rtlCol="0" anchor="ctr"/>
          <a:lstStyle/>
          <a:p>
            <a:pPr algn="ctr" indent="0" marL="0">
              <a:buNone/>
            </a:pPr>
            <a:r>
              <a:rPr lang="en-US" sz="2800" b="1" dirty="0">
                <a:solidFill>
                  <a:srgbClr val="0F2044"/>
                </a:solidFill>
                <a:latin typeface="Calibri" pitchFamily="34" charset="0"/>
                <a:ea typeface="Calibri" pitchFamily="34" charset="-122"/>
                <a:cs typeface="Calibri" pitchFamily="34" charset="-120"/>
              </a:rPr>
              <a:t>3</a:t>
            </a:r>
            <a:endParaRPr lang="en-US" sz="2800" dirty="0"/>
          </a:p>
        </p:txBody>
      </p:sp>
      <p:sp>
        <p:nvSpPr>
          <p:cNvPr id="17" name="Text 15"/>
          <p:cNvSpPr/>
          <p:nvPr/>
        </p:nvSpPr>
        <p:spPr>
          <a:xfrm>
            <a:off x="1234440" y="3611880"/>
            <a:ext cx="713232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90-Day Pilot Approval</a:t>
            </a:r>
            <a:endParaRPr lang="en-US" sz="1500" dirty="0"/>
          </a:p>
        </p:txBody>
      </p:sp>
      <p:sp>
        <p:nvSpPr>
          <p:cNvPr id="18" name="Text 16"/>
          <p:cNvSpPr/>
          <p:nvPr/>
        </p:nvSpPr>
        <p:spPr>
          <a:xfrm>
            <a:off x="1234440" y="4050792"/>
            <a:ext cx="7132320" cy="502920"/>
          </a:xfrm>
          <a:prstGeom prst="rect">
            <a:avLst/>
          </a:prstGeom>
          <a:noFill/>
          <a:ln/>
        </p:spPr>
        <p:txBody>
          <a:bodyPr wrap="square" lIns="0" tIns="0" rIns="0" bIns="0" rtlCol="0" anchor="ctr"/>
          <a:lstStyle/>
          <a:p>
            <a:pPr algn="l" indent="0" marL="0">
              <a:buNone/>
            </a:pPr>
            <a:r>
              <a:rPr lang="en-US" sz="1200" dirty="0">
                <a:solidFill>
                  <a:srgbClr val="9EAEC8"/>
                </a:solidFill>
                <a:latin typeface="Calibri" pitchFamily="34" charset="0"/>
                <a:ea typeface="Calibri" pitchFamily="34" charset="-122"/>
                <a:cs typeface="Calibri" pitchFamily="34" charset="-120"/>
              </a:rPr>
              <a:t>Greenlight a 90-day pilot program to measure churn reduction in Cluster 0 against the current 36% baseline.</a:t>
            </a:r>
            <a:endParaRPr lang="en-US" sz="1200" dirty="0"/>
          </a:p>
        </p:txBody>
      </p:sp>
      <p:sp>
        <p:nvSpPr>
          <p:cNvPr id="19" name="Text 17"/>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100" i="1" dirty="0">
                <a:solidFill>
                  <a:srgbClr val="F5A623"/>
                </a:solidFill>
                <a:latin typeface="Calibri" pitchFamily="34" charset="0"/>
                <a:ea typeface="Calibri" pitchFamily="34" charset="-122"/>
                <a:cs typeface="Calibri" pitchFamily="34" charset="-120"/>
              </a:rPr>
              <a:t>Pilot success = Cluster 0 churn falls below 25% within 90 days.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4855"/>
          </a:solidFill>
          <a:ln/>
        </p:spPr>
      </p:sp>
      <p:sp>
        <p:nvSpPr>
          <p:cNvPr id="3" name="Shape 1"/>
          <p:cNvSpPr/>
          <p:nvPr/>
        </p:nvSpPr>
        <p:spPr>
          <a:xfrm>
            <a:off x="0" y="4389120"/>
            <a:ext cx="9144000" cy="754380"/>
          </a:xfrm>
          <a:prstGeom prst="rect">
            <a:avLst/>
          </a:prstGeom>
          <a:solidFill>
            <a:srgbClr val="1A3A6C"/>
          </a:solidFill>
          <a:ln/>
        </p:spPr>
      </p:sp>
      <p:sp>
        <p:nvSpPr>
          <p:cNvPr id="4" name="Text 2"/>
          <p:cNvSpPr/>
          <p:nvPr/>
        </p:nvSpPr>
        <p:spPr>
          <a:xfrm>
            <a:off x="457200" y="274320"/>
            <a:ext cx="8229600" cy="457200"/>
          </a:xfrm>
          <a:prstGeom prst="rect">
            <a:avLst/>
          </a:prstGeom>
          <a:noFill/>
          <a:ln/>
        </p:spPr>
        <p:txBody>
          <a:bodyPr wrap="square" lIns="0" tIns="0" rIns="0" bIns="0" rtlCol="0" anchor="ctr"/>
          <a:lstStyle/>
          <a:p>
            <a:pPr algn="l" indent="0" marL="0">
              <a:buNone/>
            </a:pPr>
            <a:r>
              <a:rPr lang="en-US" sz="1400" dirty="0">
                <a:solidFill>
                  <a:srgbClr val="9EAEC8"/>
                </a:solidFill>
                <a:latin typeface="Calibri" pitchFamily="34" charset="0"/>
                <a:ea typeface="Calibri" pitchFamily="34" charset="-122"/>
                <a:cs typeface="Calibri" pitchFamily="34" charset="-120"/>
              </a:rPr>
              <a:t>Key Numbers at a Glance</a:t>
            </a:r>
            <a:endParaRPr lang="en-US" sz="1400" dirty="0"/>
          </a:p>
        </p:txBody>
      </p:sp>
      <p:sp>
        <p:nvSpPr>
          <p:cNvPr id="5" name="Shape 3"/>
          <p:cNvSpPr/>
          <p:nvPr/>
        </p:nvSpPr>
        <p:spPr>
          <a:xfrm>
            <a:off x="365760" y="82296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6" name="Text 4"/>
          <p:cNvSpPr/>
          <p:nvPr/>
        </p:nvSpPr>
        <p:spPr>
          <a:xfrm>
            <a:off x="365760" y="93268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16.8%</a:t>
            </a:r>
            <a:endParaRPr lang="en-US" sz="3800" dirty="0"/>
          </a:p>
        </p:txBody>
      </p:sp>
      <p:sp>
        <p:nvSpPr>
          <p:cNvPr id="7" name="Text 5"/>
          <p:cNvSpPr/>
          <p:nvPr/>
        </p:nvSpPr>
        <p:spPr>
          <a:xfrm>
            <a:off x="365760" y="173736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Overall Churn Rate</a:t>
            </a:r>
            <a:endParaRPr lang="en-US" sz="1100" dirty="0"/>
          </a:p>
        </p:txBody>
      </p:sp>
      <p:sp>
        <p:nvSpPr>
          <p:cNvPr id="8" name="Shape 6"/>
          <p:cNvSpPr/>
          <p:nvPr/>
        </p:nvSpPr>
        <p:spPr>
          <a:xfrm>
            <a:off x="3246120" y="82296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9" name="Text 7"/>
          <p:cNvSpPr/>
          <p:nvPr/>
        </p:nvSpPr>
        <p:spPr>
          <a:xfrm>
            <a:off x="3246120" y="93268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36%</a:t>
            </a:r>
            <a:endParaRPr lang="en-US" sz="3800" dirty="0"/>
          </a:p>
        </p:txBody>
      </p:sp>
      <p:sp>
        <p:nvSpPr>
          <p:cNvPr id="10" name="Text 8"/>
          <p:cNvSpPr/>
          <p:nvPr/>
        </p:nvSpPr>
        <p:spPr>
          <a:xfrm>
            <a:off x="3246120" y="173736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Cluster 0 Churn Rate</a:t>
            </a:r>
            <a:endParaRPr lang="en-US" sz="1100" dirty="0"/>
          </a:p>
        </p:txBody>
      </p:sp>
      <p:sp>
        <p:nvSpPr>
          <p:cNvPr id="11" name="Shape 9"/>
          <p:cNvSpPr/>
          <p:nvPr/>
        </p:nvSpPr>
        <p:spPr>
          <a:xfrm>
            <a:off x="6126480" y="82296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2" name="Text 10"/>
          <p:cNvSpPr/>
          <p:nvPr/>
        </p:nvSpPr>
        <p:spPr>
          <a:xfrm>
            <a:off x="6126480" y="93268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8%</a:t>
            </a:r>
            <a:endParaRPr lang="en-US" sz="3800" dirty="0"/>
          </a:p>
        </p:txBody>
      </p:sp>
      <p:sp>
        <p:nvSpPr>
          <p:cNvPr id="13" name="Text 11"/>
          <p:cNvSpPr/>
          <p:nvPr/>
        </p:nvSpPr>
        <p:spPr>
          <a:xfrm>
            <a:off x="6126480" y="173736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Loyal Cluster 1 Churn</a:t>
            </a:r>
            <a:endParaRPr lang="en-US" sz="1100" dirty="0"/>
          </a:p>
        </p:txBody>
      </p:sp>
      <p:sp>
        <p:nvSpPr>
          <p:cNvPr id="14" name="Shape 12"/>
          <p:cNvSpPr/>
          <p:nvPr/>
        </p:nvSpPr>
        <p:spPr>
          <a:xfrm>
            <a:off x="365760" y="237744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5" name="Text 13"/>
          <p:cNvSpPr/>
          <p:nvPr/>
        </p:nvSpPr>
        <p:spPr>
          <a:xfrm>
            <a:off x="365760" y="248716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1.97×</a:t>
            </a:r>
            <a:endParaRPr lang="en-US" sz="3800" dirty="0"/>
          </a:p>
        </p:txBody>
      </p:sp>
      <p:sp>
        <p:nvSpPr>
          <p:cNvPr id="16" name="Text 14"/>
          <p:cNvSpPr/>
          <p:nvPr/>
        </p:nvSpPr>
        <p:spPr>
          <a:xfrm>
            <a:off x="365760" y="329184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Complaint Odds Ratio</a:t>
            </a:r>
            <a:endParaRPr lang="en-US" sz="1100" dirty="0"/>
          </a:p>
        </p:txBody>
      </p:sp>
      <p:sp>
        <p:nvSpPr>
          <p:cNvPr id="17" name="Shape 15"/>
          <p:cNvSpPr/>
          <p:nvPr/>
        </p:nvSpPr>
        <p:spPr>
          <a:xfrm>
            <a:off x="3246120" y="237744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18" name="Text 16"/>
          <p:cNvSpPr/>
          <p:nvPr/>
        </p:nvSpPr>
        <p:spPr>
          <a:xfrm>
            <a:off x="3246120" y="248716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0.25×</a:t>
            </a:r>
            <a:endParaRPr lang="en-US" sz="3800" dirty="0"/>
          </a:p>
        </p:txBody>
      </p:sp>
      <p:sp>
        <p:nvSpPr>
          <p:cNvPr id="19" name="Text 17"/>
          <p:cNvSpPr/>
          <p:nvPr/>
        </p:nvSpPr>
        <p:spPr>
          <a:xfrm>
            <a:off x="3246120" y="329184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Tenure Odds Ratio</a:t>
            </a:r>
            <a:endParaRPr lang="en-US" sz="1100" dirty="0"/>
          </a:p>
        </p:txBody>
      </p:sp>
      <p:sp>
        <p:nvSpPr>
          <p:cNvPr id="20" name="Shape 18"/>
          <p:cNvSpPr/>
          <p:nvPr/>
        </p:nvSpPr>
        <p:spPr>
          <a:xfrm>
            <a:off x="6126480" y="2377440"/>
            <a:ext cx="2651760" cy="1325880"/>
          </a:xfrm>
          <a:prstGeom prst="rect">
            <a:avLst/>
          </a:prstGeom>
          <a:solidFill>
            <a:srgbClr val="1A3A6C"/>
          </a:solidFill>
          <a:ln/>
          <a:effectLst>
            <a:outerShdw sx="100000" sy="100000" kx="0" ky="0" algn="bl" rotWithShape="0" blurRad="101600" dist="38100" dir="8100000">
              <a:srgbClr val="000000">
                <a:alpha val="12000"/>
              </a:srgbClr>
            </a:outerShdw>
          </a:effectLst>
        </p:spPr>
      </p:sp>
      <p:sp>
        <p:nvSpPr>
          <p:cNvPr id="21" name="Text 19"/>
          <p:cNvSpPr/>
          <p:nvPr/>
        </p:nvSpPr>
        <p:spPr>
          <a:xfrm>
            <a:off x="6126480" y="2487168"/>
            <a:ext cx="2651760" cy="77724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0.83</a:t>
            </a:r>
            <a:endParaRPr lang="en-US" sz="3800" dirty="0"/>
          </a:p>
        </p:txBody>
      </p:sp>
      <p:sp>
        <p:nvSpPr>
          <p:cNvPr id="22" name="Text 20"/>
          <p:cNvSpPr/>
          <p:nvPr/>
        </p:nvSpPr>
        <p:spPr>
          <a:xfrm>
            <a:off x="6126480" y="3291840"/>
            <a:ext cx="2651760" cy="347472"/>
          </a:xfrm>
          <a:prstGeom prst="rect">
            <a:avLst/>
          </a:prstGeom>
          <a:noFill/>
          <a:ln/>
        </p:spPr>
        <p:txBody>
          <a:bodyPr wrap="square" lIns="0" tIns="0" rIns="0" bIns="0" rtlCol="0" anchor="ctr"/>
          <a:lstStyle/>
          <a:p>
            <a:pPr algn="ctr" indent="0" marL="0">
              <a:buNone/>
            </a:pPr>
            <a:r>
              <a:rPr lang="en-US" sz="1100" dirty="0">
                <a:solidFill>
                  <a:srgbClr val="9EAEC8"/>
                </a:solidFill>
                <a:latin typeface="Calibri" pitchFamily="34" charset="0"/>
                <a:ea typeface="Calibri" pitchFamily="34" charset="-122"/>
                <a:cs typeface="Calibri" pitchFamily="34" charset="-120"/>
              </a:rPr>
              <a:t>Model ROC-AUC</a:t>
            </a:r>
            <a:endParaRPr lang="en-US" sz="1100" dirty="0"/>
          </a:p>
        </p:txBody>
      </p:sp>
      <p:sp>
        <p:nvSpPr>
          <p:cNvPr id="23" name="Text 21"/>
          <p:cNvSpPr/>
          <p:nvPr/>
        </p:nvSpPr>
        <p:spPr>
          <a:xfrm>
            <a:off x="365760" y="4434840"/>
            <a:ext cx="8412480" cy="320040"/>
          </a:xfrm>
          <a:prstGeom prst="rect">
            <a:avLst/>
          </a:prstGeom>
          <a:noFill/>
          <a:ln/>
        </p:spPr>
        <p:txBody>
          <a:bodyPr wrap="square" lIns="0" tIns="0" rIns="0" bIns="0" rtlCol="0" anchor="ctr"/>
          <a:lstStyle/>
          <a:p>
            <a:pPr algn="ctr" indent="0" marL="0">
              <a:buNone/>
            </a:pPr>
            <a:r>
              <a:rPr lang="en-US" sz="1000" dirty="0">
                <a:solidFill>
                  <a:srgbClr val="7080A0"/>
                </a:solidFill>
                <a:latin typeface="Calibri" pitchFamily="34" charset="0"/>
                <a:ea typeface="Calibri" pitchFamily="34" charset="-122"/>
                <a:cs typeface="Calibri" pitchFamily="34" charset="-120"/>
              </a:rPr>
              <a:t>Customer Churn Root Cause Analysis  |  E-Commerce Subscription Business  |  5,630 Customers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Root Cause Analysis</dc:title>
  <dc:subject>PptxGenJS Presentation</dc:subject>
  <dc:creator>PptxGenJS</dc:creator>
  <cp:lastModifiedBy>PptxGenJS</cp:lastModifiedBy>
  <cp:revision>1</cp:revision>
  <dcterms:created xsi:type="dcterms:W3CDTF">2026-05-21T08:12:03Z</dcterms:created>
  <dcterms:modified xsi:type="dcterms:W3CDTF">2026-05-21T08:12:03Z</dcterms:modified>
</cp:coreProperties>
</file>